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733"/>
                </a:solidFill>
                <a:latin typeface="Calibri"/>
              </a:rPr>
              <a:t>Before vs. After Capping (raw units)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capping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fare_amount max</c:v>
                  </c:pt>
                  <c:pt idx="1">
                    <c:v>distance max </c:v>
                  </c:pt>
                  <c:pt idx="2">
                    <c:v>fare_amount std</c:v>
                  </c:pt>
                  <c:pt idx="3">
                    <c:v>distance std 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99.8</c:v>
                </c:pt>
                <c:pt idx="2">
                  <c:v>9.46</c:v>
                </c:pt>
                <c:pt idx="3">
                  <c:v>3.96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capping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fare_amount max</c:v>
                  </c:pt>
                  <c:pt idx="1">
                    <c:v>distance max </c:v>
                  </c:pt>
                  <c:pt idx="2">
                    <c:v>fare_amount std</c:v>
                  </c:pt>
                  <c:pt idx="3">
                    <c:v>distance std 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</c:v>
                </c:pt>
                <c:pt idx="1">
                  <c:v>20.2</c:v>
                </c:pt>
                <c:pt idx="2">
                  <c:v>8.72</c:v>
                </c:pt>
                <c:pt idx="3">
                  <c:v>3.46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A8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733"/>
                </a:solidFill>
                <a:latin typeface="Calibri"/>
              </a:rPr>
              <a:t>Error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Ridge (baseline)</c:v>
                </c:pt>
              </c:strCache>
            </c:strRef>
          </c:tx>
          <c:spPr>
            <a:solidFill>
              <a:srgbClr val="6B7A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MAE ($)</c:v>
                  </c:pt>
                  <c:pt idx="1">
                    <c:v>RMSE ($)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3.02</c:v>
                </c:pt>
                <c:pt idx="1">
                  <c:v>6.74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 (tuned)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MAE ($)</c:v>
                  </c:pt>
                  <c:pt idx="1">
                    <c:v>RMSE ($)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2.23</c:v>
                </c:pt>
                <c:pt idx="1">
                  <c:v>4.23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A8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733"/>
                </a:solidFill>
                <a:latin typeface="Calibri"/>
              </a:rPr>
              <a:t>R² — variance explained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Ridge (baseline)</c:v>
                  </c:pt>
                  <c:pt idx="1">
                    <c:v>Random Forest (tuned)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0.435</c:v>
                </c:pt>
                <c:pt idx="1">
                  <c:v>0.777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A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TRACK · TASK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for 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Problem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Uber fare_amount — from raw, messy trip data to a clean,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leak-free, model-ready dataset and a tuned regression model.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3,073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5742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5212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2,975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63240" y="5742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5212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394960" y="5742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26680" y="5212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26680" y="5742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Trips to a Model-Ready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below was applied only after the previous one — fit on training data alone to avoid leakage.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234440" cy="1234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76272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353872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83080" y="2811780"/>
            <a:ext cx="182880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965960" y="2194560"/>
            <a:ext cx="1234440" cy="1234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2176272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353872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2811780"/>
            <a:ext cx="182880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383280" y="2194560"/>
            <a:ext cx="1234440" cy="1234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176272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46120" y="353872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811780"/>
            <a:ext cx="182880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800600" y="2194560"/>
            <a:ext cx="1234440" cy="1234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176272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353872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2811780"/>
            <a:ext cx="182880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217920" y="2194560"/>
            <a:ext cx="1234440" cy="1234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2176272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080760" y="353872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52360" y="2811780"/>
            <a:ext cx="182880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635240" y="2194560"/>
            <a:ext cx="1234440" cy="1234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2176272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98080" y="353872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869680" y="2811780"/>
            <a:ext cx="182880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9052560" y="2194560"/>
            <a:ext cx="1234440" cy="1234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9052560" y="2176272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915400" y="353872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287000" y="2811780"/>
            <a:ext cx="182880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0469880" y="2194560"/>
            <a:ext cx="1234440" cy="1234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10469880" y="2176272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332720" y="353872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shrinkage across the pipeline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4892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3,073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14400" y="5349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0" y="4892040"/>
            <a:ext cx="0" cy="960120"/>
          </a:xfrm>
          <a:prstGeom prst="line">
            <a:avLst/>
          </a:prstGeom>
          <a:noFill/>
          <a:ln w="12700">
            <a:solidFill>
              <a:srgbClr val="D5E1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75888" y="4892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3,072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675888" y="5349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 empty row dropped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19088" y="4892040"/>
            <a:ext cx="0" cy="960120"/>
          </a:xfrm>
          <a:prstGeom prst="line">
            <a:avLst/>
          </a:prstGeom>
          <a:noFill/>
          <a:ln w="12700">
            <a:solidFill>
              <a:srgbClr val="D5E1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37376" y="4892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2,975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437376" y="5349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invalid rows removed (3.2%)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180576" y="4892040"/>
            <a:ext cx="0" cy="960120"/>
          </a:xfrm>
          <a:prstGeom prst="line">
            <a:avLst/>
          </a:prstGeom>
          <a:noFill/>
          <a:ln w="12700">
            <a:solidFill>
              <a:srgbClr val="D5E1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98864" y="4892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2,380 / 595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9198864" y="5349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Data Preprocessing for Regression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 — Nearly None, and Not Random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749040" cy="4480560"/>
          </a:xfrm>
          <a:prstGeom prst="roundRect">
            <a:avLst>
              <a:gd name="adj" fmla="val 243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cells were missing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3520440"/>
            <a:ext cx="2834640" cy="0"/>
          </a:xfrm>
          <a:prstGeom prst="line">
            <a:avLst/>
          </a:prstGeom>
          <a:noFill/>
          <a:ln w="12700">
            <a:solidFill>
              <a:srgbClr val="3E7C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03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row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3,073 — every column in that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row was empty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5029200"/>
            <a:ext cx="2834640" cy="0"/>
          </a:xfrm>
          <a:prstGeom prst="line">
            <a:avLst/>
          </a:prstGeom>
          <a:noFill/>
          <a:ln w="12700">
            <a:solidFill>
              <a:srgbClr val="3E7C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212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dropna(how='all')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532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3,072 rows remained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1554480"/>
            <a:ext cx="7040880" cy="4480560"/>
          </a:xfrm>
          <a:prstGeom prst="roundRect">
            <a:avLst>
              <a:gd name="adj" fmla="val 2041"/>
            </a:avLst>
          </a:prstGeom>
          <a:solidFill>
            <a:srgbClr val="F4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783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impute?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237744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225856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22 columns showed the exact same missing 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62432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fully-empty record, not scattered gaps across features.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0" y="33832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326440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2–3% drop-row threshold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363016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safe to remove without meaningfully shrinking the dataset.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43891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427024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was a corrupted entry, not a partial observation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46360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imputing it would fabricate an entire fake trip.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5440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check: 0 exact duplicate rows, 0 duplicate trip keys — no action needed.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Data Preprocessing for Regression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DATA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Invalid Rows Before Touching Outliers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values were treated as data errors — not rare-but-real cases — and removed before any statistical outlier rule was applied.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fare_amount ≤ 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49040" y="2221992"/>
            <a:ext cx="4937760" cy="310896"/>
          </a:xfrm>
          <a:prstGeom prst="roundRect">
            <a:avLst>
              <a:gd name="adj" fmla="val 11765"/>
            </a:avLst>
          </a:prstGeom>
          <a:solidFill>
            <a:srgbClr val="E7EEF1"/>
          </a:solidFill>
          <a:ln/>
        </p:spPr>
      </p:sp>
      <p:sp>
        <p:nvSpPr>
          <p:cNvPr id="7" name="Shape 5"/>
          <p:cNvSpPr/>
          <p:nvPr/>
        </p:nvSpPr>
        <p:spPr>
          <a:xfrm>
            <a:off x="3749040" y="2221992"/>
            <a:ext cx="228600" cy="310896"/>
          </a:xfrm>
          <a:prstGeom prst="roundRect">
            <a:avLst>
              <a:gd name="adj" fmla="val 16000"/>
            </a:avLst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0" y="2148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Negative/zero fare is impossible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passenger_count = 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2907792"/>
            <a:ext cx="4937760" cy="310896"/>
          </a:xfrm>
          <a:prstGeom prst="roundRect">
            <a:avLst>
              <a:gd name="adj" fmla="val 11765"/>
            </a:avLst>
          </a:prstGeom>
          <a:solidFill>
            <a:srgbClr val="E7EEF1"/>
          </a:solidFill>
          <a:ln/>
        </p:spPr>
      </p:sp>
      <p:sp>
        <p:nvSpPr>
          <p:cNvPr id="12" name="Shape 10"/>
          <p:cNvSpPr/>
          <p:nvPr/>
        </p:nvSpPr>
        <p:spPr>
          <a:xfrm>
            <a:off x="3749040" y="2907792"/>
            <a:ext cx="458302" cy="310896"/>
          </a:xfrm>
          <a:prstGeom prst="roundRect">
            <a:avLst>
              <a:gd name="adj" fmla="val 11765"/>
            </a:avLst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834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 needs at least one rider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= 0 (corrupt GPS)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3593592"/>
            <a:ext cx="4937760" cy="310896"/>
          </a:xfrm>
          <a:prstGeom prst="roundRect">
            <a:avLst>
              <a:gd name="adj" fmla="val 11765"/>
            </a:avLst>
          </a:prstGeom>
          <a:solidFill>
            <a:srgbClr val="E7EEF1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3593592"/>
            <a:ext cx="4754880" cy="310896"/>
          </a:xfrm>
          <a:prstGeom prst="roundRect">
            <a:avLst>
              <a:gd name="adj" fmla="val 11765"/>
            </a:avLst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3520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Pickup/dropoff coordinates collapsed near (0,0)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&gt; 100 km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49040" y="4279392"/>
            <a:ext cx="4937760" cy="310896"/>
          </a:xfrm>
          <a:prstGeom prst="roundRect">
            <a:avLst>
              <a:gd name="adj" fmla="val 11765"/>
            </a:avLst>
          </a:prstGeom>
          <a:solidFill>
            <a:srgbClr val="E7EEF1"/>
          </a:solidFill>
          <a:ln/>
        </p:spPr>
      </p:sp>
      <p:sp>
        <p:nvSpPr>
          <p:cNvPr id="22" name="Shape 20"/>
          <p:cNvSpPr/>
          <p:nvPr/>
        </p:nvSpPr>
        <p:spPr>
          <a:xfrm>
            <a:off x="3749040" y="4279392"/>
            <a:ext cx="229151" cy="310896"/>
          </a:xfrm>
          <a:prstGeom prst="roundRect">
            <a:avLst>
              <a:gd name="adj" fmla="val 15962"/>
            </a:avLst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0" y="4206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0976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beyond any realistic NYC taxi trip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3035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rows removed in total (3.2% of the dataset) → 3,072 → 2,975 rows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Data Preprocessing for Regression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OUTLIERS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Capping, Not Deleting — Real Fares vs. Bad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$180 fare or a 20 km ride is rare but real. Instead of deleting these rows and losing signal, extreme values were capped (winsorized) at the 99th percentile.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2011680"/>
            <a:ext cx="4206240" cy="1783080"/>
          </a:xfrm>
          <a:prstGeom prst="roundRect">
            <a:avLst>
              <a:gd name="adj" fmla="val 4103"/>
            </a:avLst>
          </a:prstGeom>
          <a:solidFill>
            <a:srgbClr val="F4F8FA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fare_amount capped at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0" y="2468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$52.00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68096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values affected (99th pct)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0" y="3429000"/>
            <a:ext cx="3657600" cy="0"/>
          </a:xfrm>
          <a:prstGeom prst="line">
            <a:avLst/>
          </a:prstGeom>
          <a:noFill/>
          <a:ln w="12700">
            <a:solidFill>
              <a:srgbClr val="D5E1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capped at 20.23 km — 30 values affected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06640" y="397764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21295C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cap instead of delete?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680960" y="452628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$150+ airport run or a long cross-town ride is a genuine rare case, not an error. Deleting it would blind the model to high-value trips; capping keeps the row while limiting its leverage on the loss.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Data Preprocessing for Regression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Engineering, Encoding, and Cutting Redundancy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→ hour_sin, hour_cos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23 and hour 0 are next to each other in real time. Sine/cosine encoding lets the model see that wrap-around instead of a false 23-unit gap.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3017520" cy="0"/>
          </a:xfrm>
          <a:prstGeom prst="line">
            <a:avLst/>
          </a:prstGeom>
          <a:noFill/>
          <a:ln w="12700">
            <a:solidFill>
              <a:srgbClr val="D5E1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776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pickup_datetime and raw hour were dropped after extraction — their information now lives in year, month, day, weekday, hour_sin, hour_cos.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F4F8F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Strategy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1945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1945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06440" y="21579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Condition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5420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&lt; Good &lt; Very Good &lt; Excellent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1546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154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06440" y="311810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Condition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5021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&lt; Dense &lt; Congested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41148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06440" y="40782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44622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categories, no natural order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5257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fitted on X_train only, then applied to X_test — inside a single ColumnTransformer.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150876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21488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8321040" y="28803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jfk_dist, ewr_dist, lga_dist, sol_dist and nyc_dist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3657600"/>
            <a:ext cx="3017520" cy="0"/>
          </a:xfrm>
          <a:prstGeom prst="line">
            <a:avLst/>
          </a:prstGeom>
          <a:noFill/>
          <a:ln w="12700">
            <a:solidFill>
              <a:srgbClr val="3E7C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Dropped: ewr_dist, lga_dist, sol_dist, nyc_dist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21040" y="434340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jfk_dist as the representative landmark-distance feature — the 5 columns were carrying almost identical information and were destabilizing the linear model's coefficients.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Data Preprocessing for Regression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NO LEAKAGE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Split and a Single Reusable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split · 2,975 clean rows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778240" cy="548640"/>
          </a:xfrm>
          <a:prstGeom prst="roundRect">
            <a:avLst>
              <a:gd name="adj" fmla="val 10000"/>
            </a:avLst>
          </a:prstGeom>
          <a:solidFill>
            <a:srgbClr val="E7EEF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7022592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2,380 rows (80%)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595 (20%)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i.i.d. split (not chronological) — each ride is an independent event, so there's no future-to-past leakage risk to guard against.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64240" cy="2651760"/>
          </a:xfrm>
          <a:prstGeom prst="roundRect">
            <a:avLst>
              <a:gd name="adj" fmla="val 3448"/>
            </a:avLst>
          </a:prstGeom>
          <a:solidFill>
            <a:srgbClr val="F4F8F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sklearn Pipeline — fit once, reused end-to-end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1605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6B7A85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1605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29000" y="4480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749040" y="41605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41605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(Ordinal + One-Hot + Scale)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4480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583680" y="41605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41605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RandomForestRegressor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(tuned)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98280" y="4480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418320" y="41605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0" y="41605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final_pipeline.pkl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Data Preprocessing for Regression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Tuned: A Clear, Measured Improvement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5544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5486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22960" y="5760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(baseline)   →   Random Forest (tuned)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3749040" y="5486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749040" y="5760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$3.02   →   $2.23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00800" y="5486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00800" y="5760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$6.74   →   $4.23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052560" y="5486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9052560" y="5760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0.435   →   0.777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Data Preprocessing for Regression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Tuned Random Forest cut MAE by ~26%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explains 78% of fare variance.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TRY NEXT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852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/ XGBoost in place of Random Forest for a likely further lift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54787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4747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for Weather instead of One-Hot, compared head-to-head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0965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Traffic Condition × distance interaction feature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7914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71830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/ SHAP analysis on the Random Forest to explain predictions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Data Preprocessing for Regression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2026-07-17T15:39:50Z</dcterms:created>
  <dcterms:modified xsi:type="dcterms:W3CDTF">2026-07-17T15:39:50Z</dcterms:modified>
</cp:coreProperties>
</file>