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Weather Data Analysis: Cairo, Egypt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Time-Series Exploratory Data Analysis (2022-2023)</a:t>
            </a:r>
          </a:p>
          <a:p>
            <a:r>
              <a:t>Task 4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 &amp; Data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Project Goal:</a:t>
            </a:r>
          </a:p>
          <a:p>
            <a:pPr lvl="1">
              <a:defRPr sz="1500"/>
            </a:pPr>
            <a:r>
              <a:t>Perform robust time-series EDA on weather data.</a:t>
            </a:r>
          </a:p>
          <a:p>
            <a:pPr>
              <a:defRPr sz="1800"/>
            </a:pPr>
            <a:r>
              <a:t>Data Source:</a:t>
            </a:r>
          </a:p>
          <a:p>
            <a:pPr lvl="1">
              <a:defRPr sz="1500"/>
            </a:pPr>
            <a:r>
              <a:t>NASA POWER API (free, reliable, daily temporal resolution).</a:t>
            </a:r>
          </a:p>
          <a:p>
            <a:pPr>
              <a:defRPr sz="1800"/>
            </a:pPr>
            <a:r>
              <a:t>Parameters Collected:</a:t>
            </a:r>
          </a:p>
          <a:p>
            <a:pPr lvl="1">
              <a:defRPr sz="1500"/>
            </a:pPr>
            <a:r>
              <a:t>Temperature (Mean, Min, Max), Precipitation, Humidity, Wind Speed, Cloud Cover.</a:t>
            </a:r>
          </a:p>
          <a:p>
            <a:pPr>
              <a:defRPr sz="1800"/>
            </a:pPr>
            <a:r>
              <a:t>Location &amp; Timeframe:</a:t>
            </a:r>
          </a:p>
          <a:p>
            <a:pPr lvl="1">
              <a:defRPr sz="1500"/>
            </a:pPr>
            <a:r>
              <a:t>Cairo, Egypt (Lat: 30.0444, Lon: 31.2357).</a:t>
            </a:r>
          </a:p>
          <a:p>
            <a:pPr lvl="1">
              <a:defRPr sz="1500"/>
            </a:pPr>
            <a:r>
              <a:t>January 1, 2022 to December 31, 2023 (730 days).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Preparation &amp; 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Parsing &amp; Indexing:</a:t>
            </a:r>
          </a:p>
          <a:p>
            <a:pPr lvl="1">
              <a:defRPr sz="1500"/>
            </a:pPr>
            <a:r>
              <a:t>Dates parsed and set as the DataFrame index (Daily frequency).</a:t>
            </a:r>
          </a:p>
          <a:p>
            <a:pPr>
              <a:defRPr sz="1800"/>
            </a:pPr>
            <a:r>
              <a:t>Handling Sentinels:</a:t>
            </a:r>
          </a:p>
          <a:p>
            <a:pPr lvl="1">
              <a:defRPr sz="1500"/>
            </a:pPr>
            <a:r>
              <a:t>NASA's missing value code (-999.0) replaced with NaN.</a:t>
            </a:r>
          </a:p>
          <a:p>
            <a:pPr>
              <a:defRPr sz="1800"/>
            </a:pPr>
            <a:r>
              <a:t>Missing Value Imputation:</a:t>
            </a:r>
          </a:p>
          <a:p>
            <a:pPr lvl="1">
              <a:defRPr sz="1500"/>
            </a:pPr>
            <a:r>
              <a:t>Linear Interpolation (limit = 3 days).</a:t>
            </a:r>
          </a:p>
          <a:p>
            <a:pPr lvl="1">
              <a:defRPr sz="1500"/>
            </a:pPr>
            <a:r>
              <a:t>Justified: weather changes smoothly day to day.</a:t>
            </a:r>
          </a:p>
          <a:p>
            <a:pPr>
              <a:defRPr sz="1800"/>
            </a:pPr>
            <a:r>
              <a:t>Validation:</a:t>
            </a:r>
          </a:p>
          <a:p>
            <a:pPr lvl="1">
              <a:defRPr sz="1500"/>
            </a:pPr>
            <a:r>
              <a:t>No missing dates in the 730-day sequence.</a:t>
            </a:r>
          </a:p>
          <a:p>
            <a:pPr lvl="1">
              <a:defRPr sz="1500"/>
            </a:pPr>
            <a:r>
              <a:t>Units verified (Temperature in C, Rainfall in mm, etc.).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Temperature (C):</a:t>
            </a:r>
          </a:p>
          <a:p>
            <a:pPr lvl="1">
              <a:defRPr sz="1500"/>
            </a:pPr>
            <a:r>
              <a:t>Mean ~22.5 C  |  Range: ~10 C (Winter) to ~35 C+ (Summer).</a:t>
            </a:r>
          </a:p>
          <a:p>
            <a:pPr>
              <a:defRPr sz="1800"/>
            </a:pPr>
            <a:r>
              <a:t>Precipitation (mm/day):</a:t>
            </a:r>
          </a:p>
          <a:p>
            <a:pPr lvl="1">
              <a:defRPr sz="1500"/>
            </a:pPr>
            <a:r>
              <a:t>Extremely right-skewed: most days have 0 mm rainfall (arid city).</a:t>
            </a:r>
          </a:p>
          <a:p>
            <a:pPr>
              <a:defRPr sz="1800"/>
            </a:pPr>
            <a:r>
              <a:t>Humidity:</a:t>
            </a:r>
          </a:p>
          <a:p>
            <a:pPr lvl="1">
              <a:defRPr sz="1500"/>
            </a:pPr>
            <a:r>
              <a:t>Inversely related to temperature: drier in summer, more humid in winter.</a:t>
            </a:r>
          </a:p>
          <a:p>
            <a:pPr>
              <a:defRPr sz="1800"/>
            </a:pPr>
            <a:r>
              <a:t>Wind Speed:</a:t>
            </a:r>
          </a:p>
          <a:p>
            <a:pPr lvl="1">
              <a:defRPr sz="1500"/>
            </a:pPr>
            <a:r>
              <a:t>Stable year-round with no strong seasonal pattern.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F497D"/>
                </a:solidFill>
              </a:defRPr>
            </a:pPr>
            <a:r>
              <a:t>Temporal Trends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8595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06060"/>
                </a:solidFill>
              </a:defRPr>
            </a:pPr>
            <a:r>
              <a:t>Daily values overlaid with 7-day and 30-day rolling means for temperature and precipitation.</a:t>
            </a:r>
          </a:p>
        </p:txBody>
      </p:sp>
      <p:pic>
        <p:nvPicPr>
          <p:cNvPr id="4" name="Picture 3" descr="temporal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80160"/>
            <a:ext cx="877824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F497D"/>
                </a:solidFill>
              </a:defRPr>
            </a:pPr>
            <a:r>
              <a:t>Seasonality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8595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06060"/>
                </a:solidFill>
              </a:defRPr>
            </a:pPr>
            <a:r>
              <a:t>Monthly boxplots showing temperature peak in Jul/Aug and precipitation confined to Nov-Mar.</a:t>
            </a:r>
          </a:p>
        </p:txBody>
      </p:sp>
      <p:pic>
        <p:nvPicPr>
          <p:cNvPr id="4" name="Picture 3" descr="season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80160"/>
            <a:ext cx="877824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F497D"/>
                </a:solidFill>
              </a:defRPr>
            </a:pPr>
            <a:r>
              <a:t>Time-Series Decomposition (STL)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8595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06060"/>
                </a:solidFill>
              </a:defRPr>
            </a:pPr>
            <a:r>
              <a:t>Temperature decomposed into Trend, Seasonal, and Residual components using STL (Loess).</a:t>
            </a:r>
          </a:p>
        </p:txBody>
      </p:sp>
      <p:pic>
        <p:nvPicPr>
          <p:cNvPr id="4" name="Picture 3" descr="stl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80160"/>
            <a:ext cx="877824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Autocorrelation &amp; Stationarity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ACF &amp; PACF:</a:t>
            </a:r>
          </a:p>
          <a:p>
            <a:pPr lvl="1">
              <a:defRPr sz="1500"/>
            </a:pPr>
            <a:r>
              <a:t>Temperature ACF: Slow decay -- strong seasonality and memory.</a:t>
            </a:r>
          </a:p>
          <a:p>
            <a:pPr lvl="1">
              <a:defRPr sz="1500"/>
            </a:pPr>
            <a:r>
              <a:t>Precipitation ACF: Drops immediately -- random and event-driven.</a:t>
            </a:r>
          </a:p>
          <a:p>
            <a:pPr>
              <a:defRPr sz="1800"/>
            </a:pPr>
            <a:r>
              <a:t>Augmented Dickey-Fuller Test:</a:t>
            </a:r>
          </a:p>
          <a:p>
            <a:pPr lvl="1">
              <a:defRPr sz="1500"/>
            </a:pPr>
            <a:r>
              <a:t>Temperature: Non-stationary (strong seasonal cycle). Needs differencing for ARIMA.</a:t>
            </a:r>
          </a:p>
          <a:p>
            <a:pPr lvl="1">
              <a:defRPr sz="1500"/>
            </a:pPr>
            <a:r>
              <a:t>Precipitation: Closer to stationary (mean hovers near zero).</a:t>
            </a:r>
          </a:p>
          <a:p>
            <a:pPr>
              <a:defRPr sz="1800"/>
            </a:pPr>
            <a:r>
              <a:t>Implication:</a:t>
            </a:r>
          </a:p>
          <a:p>
            <a:pPr lvl="1">
              <a:defRPr sz="1500"/>
            </a:pPr>
            <a:r>
              <a:t>Temperature needs SARIMA / seasonal differencing for modeling.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Relationships &amp; Anomalies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Correlation Matrix:</a:t>
            </a:r>
          </a:p>
          <a:p>
            <a:pPr lvl="1">
              <a:defRPr sz="1500"/>
            </a:pPr>
            <a:r>
              <a:t>Temperature &amp; Humidity: Negatively correlated (hot days = dry).</a:t>
            </a:r>
          </a:p>
          <a:p>
            <a:pPr lvl="1">
              <a:defRPr sz="1500"/>
            </a:pPr>
            <a:r>
              <a:t>Precipitation &amp; Cloud Cover: Positively correlated.</a:t>
            </a:r>
          </a:p>
          <a:p>
            <a:pPr>
              <a:defRPr sz="1800"/>
            </a:pPr>
            <a:r>
              <a:t>Outlier Detection (Rolling Z-Score, window=30, threshold=3 std):</a:t>
            </a:r>
          </a:p>
          <a:p>
            <a:pPr lvl="1">
              <a:defRPr sz="1500"/>
            </a:pPr>
            <a:r>
              <a:t>Seasonal-aware: avoids flagging normal summer highs as outliers.</a:t>
            </a:r>
          </a:p>
          <a:p>
            <a:pPr>
              <a:defRPr sz="1800"/>
            </a:pPr>
            <a:r>
              <a:t>Suspicious Values Check:</a:t>
            </a:r>
          </a:p>
          <a:p>
            <a:pPr lvl="1">
              <a:defRPr sz="1500"/>
            </a:pPr>
            <a:r>
              <a:t>No negative rainfall, no temperatures outside physical bounds,</a:t>
            </a:r>
          </a:p>
          <a:p>
            <a:pPr lvl="1">
              <a:defRPr sz="1500"/>
            </a:pPr>
            <a:r>
              <a:t>No temp_min &gt; temp_max. Data quality confirmed as excellent.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Key Findings:</a:t>
            </a:r>
          </a:p>
          <a:p>
            <a:pPr lvl="1">
              <a:defRPr sz="1500"/>
            </a:pPr>
            <a:r>
              <a:t>Cairo's weather follows a strong, predictable annual seasonal cycle.</a:t>
            </a:r>
          </a:p>
          <a:p>
            <a:pPr lvl="1">
              <a:defRPr sz="1500"/>
            </a:pPr>
            <a:r>
              <a:t>Precipitation is sparse and event-driven (arid desert climate).</a:t>
            </a:r>
          </a:p>
          <a:p>
            <a:pPr lvl="1">
              <a:defRPr sz="1500"/>
            </a:pPr>
            <a:r>
              <a:t>Data quality from NASA POWER was excellent with no anomalies.</a:t>
            </a:r>
          </a:p>
          <a:p>
            <a:pPr>
              <a:defRPr sz="1800"/>
            </a:pPr>
            <a:r>
              <a:t>Modeling Implications:</a:t>
            </a:r>
          </a:p>
          <a:p>
            <a:pPr lvl="1">
              <a:defRPr sz="1500"/>
            </a:pPr>
            <a:r>
              <a:t>Temperature: Use seasonal models (SARIMA, Prophet).</a:t>
            </a:r>
          </a:p>
          <a:p>
            <a:pPr lvl="1">
              <a:defRPr sz="1500"/>
            </a:pPr>
            <a:r>
              <a:t>Precipitation: Use zero-inflated or count-based models.</a:t>
            </a:r>
          </a:p>
          <a:p>
            <a:pPr>
              <a:defRPr sz="1800"/>
            </a:pPr>
            <a:r>
              <a:t>Next Steps:</a:t>
            </a:r>
          </a:p>
          <a:p>
            <a:pPr lvl="1">
              <a:defRPr sz="1500"/>
            </a:pPr>
            <a:r>
              <a:t>Ready for predictive modeling or feature engineering.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