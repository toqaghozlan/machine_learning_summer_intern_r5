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Weather Data Analysis: Cairo, Egypt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Time-Series Exploratory Data Analysis (2022-2023)\nTask 4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Project Goal:</a:t>
            </a:r>
          </a:p>
          <a:p>
            <a:pPr lvl="1">
              <a:defRPr sz="2000"/>
            </a:pPr>
            <a:r>
              <a:t>Perform robust time-series EDA on weather data.</a:t>
            </a:r>
          </a:p>
          <a:p>
            <a:pPr>
              <a:defRPr sz="2400"/>
            </a:pPr>
            <a:r>
              <a:t>Data Source:</a:t>
            </a:r>
          </a:p>
          <a:p>
            <a:pPr lvl="1">
              <a:defRPr sz="2000"/>
            </a:pPr>
            <a:r>
              <a:t>NASA POWER API (free, reliable, daily temporal resolution).</a:t>
            </a:r>
          </a:p>
          <a:p>
            <a:pPr>
              <a:defRPr sz="2400"/>
            </a:pPr>
            <a:r>
              <a:t>Parameters Collected:</a:t>
            </a:r>
          </a:p>
          <a:p>
            <a:pPr lvl="1">
              <a:defRPr sz="2000"/>
            </a:pPr>
            <a:r>
              <a:t>Temperature (Mean, Min, Max), Precipitation, Humidity, Wind Speed, Cloud Cover.</a:t>
            </a:r>
          </a:p>
          <a:p>
            <a:pPr>
              <a:defRPr sz="2400"/>
            </a:pPr>
            <a:r>
              <a:t>Location &amp; Timeframe:</a:t>
            </a:r>
          </a:p>
          <a:p>
            <a:pPr lvl="1">
              <a:defRPr sz="2000"/>
            </a:pPr>
            <a:r>
              <a:t>Cairo, Egypt (Lat: 30.0444, Lon: 31.2357).</a:t>
            </a:r>
          </a:p>
          <a:p>
            <a:pPr lvl="1">
              <a:defRPr sz="2000"/>
            </a:pPr>
            <a:r>
              <a:t>January 1, 2022 – December 31, 2023 (730 days).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Parsing &amp; Indexing:</a:t>
            </a:r>
          </a:p>
          <a:p>
            <a:pPr lvl="1">
              <a:defRPr sz="2000"/>
            </a:pPr>
            <a:r>
              <a:t>Dates parsed and set as the DataFrame index (Daily frequency).</a:t>
            </a:r>
          </a:p>
          <a:p>
            <a:pPr>
              <a:defRPr sz="2400"/>
            </a:pPr>
            <a:r>
              <a:t>Handling Sentinels:</a:t>
            </a:r>
          </a:p>
          <a:p>
            <a:pPr lvl="1">
              <a:defRPr sz="2000"/>
            </a:pPr>
            <a:r>
              <a:t>NASA's missing value code (-999.0) was replaced with NaN.</a:t>
            </a:r>
          </a:p>
          <a:p>
            <a:pPr>
              <a:defRPr sz="2400"/>
            </a:pPr>
            <a:r>
              <a:t>Missing Value Imputation:</a:t>
            </a:r>
          </a:p>
          <a:p>
            <a:pPr lvl="1">
              <a:defRPr sz="2000"/>
            </a:pPr>
            <a:r>
              <a:t>Used Linear Interpolation (limit=3 days).</a:t>
            </a:r>
          </a:p>
          <a:p>
            <a:pPr lvl="1">
              <a:defRPr sz="2000"/>
            </a:pPr>
            <a:r>
              <a:t>Justification: Weather shifts smoothly; interpolation preserves natural patterns.</a:t>
            </a:r>
          </a:p>
          <a:p>
            <a:pPr>
              <a:defRPr sz="2400"/>
            </a:pPr>
            <a:r>
              <a:t>Validation:</a:t>
            </a:r>
          </a:p>
          <a:p>
            <a:pPr lvl="1">
              <a:defRPr sz="2000"/>
            </a:pPr>
            <a:r>
              <a:t>No missing dates in the 730-day sequence.</a:t>
            </a:r>
          </a:p>
          <a:p>
            <a:pPr lvl="1">
              <a:defRPr sz="2000"/>
            </a:pPr>
            <a:r>
              <a:t>Verified unit consistency (e.g., Temperature in °C).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Temperature (°C):</a:t>
            </a:r>
          </a:p>
          <a:p>
            <a:pPr lvl="1">
              <a:defRPr sz="2000"/>
            </a:pPr>
            <a:r>
              <a:t>Mean: ~22.5°C, indicating a generally warm climate.</a:t>
            </a:r>
          </a:p>
          <a:p>
            <a:pPr lvl="1">
              <a:defRPr sz="2000"/>
            </a:pPr>
            <a:r>
              <a:t>Range: From ~10°C (Winter minimums) to ~35°C+ (Summer maximums).</a:t>
            </a:r>
          </a:p>
          <a:p>
            <a:pPr>
              <a:defRPr sz="2400"/>
            </a:pPr>
            <a:r>
              <a:t>Precipitation (mm/day):</a:t>
            </a:r>
          </a:p>
          <a:p>
            <a:pPr lvl="1">
              <a:defRPr sz="2000"/>
            </a:pPr>
            <a:r>
              <a:t>Cairo is highly arid.</a:t>
            </a:r>
          </a:p>
          <a:p>
            <a:pPr lvl="1">
              <a:defRPr sz="2000"/>
            </a:pPr>
            <a:r>
              <a:t>Most days have 0 mm rainfall.</a:t>
            </a:r>
          </a:p>
          <a:p>
            <a:pPr lvl="1">
              <a:defRPr sz="2000"/>
            </a:pPr>
            <a:r>
              <a:t>Extremely right-skewed distribution.</a:t>
            </a:r>
          </a:p>
          <a:p>
            <a:pPr>
              <a:defRPr sz="2400"/>
            </a:pPr>
            <a:r>
              <a:t>Distributions:</a:t>
            </a:r>
          </a:p>
          <a:p>
            <a:pPr lvl="1">
              <a:defRPr sz="2000"/>
            </a:pPr>
            <a:r>
              <a:t>Temperature follows a wide bimodal/normal distribution.</a:t>
            </a:r>
          </a:p>
          <a:p>
            <a:pPr lvl="1">
              <a:defRPr sz="2000"/>
            </a:pPr>
            <a:r>
              <a:t>Wind speed and humidity are moderate but fluctuate.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pPr>
              <a:defRPr sz="1800"/>
            </a:pPr>
            <a:r>
              <a:t>30-day rolling means smooth out daily noise.</a:t>
            </a:r>
          </a:p>
          <a:p>
            <a:pPr>
              <a:defRPr sz="1800"/>
            </a:pPr>
            <a:r>
              <a:t>Clear repeating wave for temperature. Precipitation spikes exclusively in winter.</a:t>
            </a:r>
          </a:p>
        </p:txBody>
      </p:sp>
      <p:pic>
        <p:nvPicPr>
          <p:cNvPr id="4" name="Picture 3" descr="temporal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Seasonality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pPr>
              <a:defRPr sz="1800"/>
            </a:pPr>
            <a:r>
              <a:t>Temperature peaks in July/Aug and dips in Jan/Feb.</a:t>
            </a:r>
          </a:p>
          <a:p>
            <a:pPr>
              <a:defRPr sz="1800"/>
            </a:pPr>
            <a:r>
              <a:t>Rain is confined almost entirely to Nov-Mar (Summers are completely dry).</a:t>
            </a:r>
          </a:p>
        </p:txBody>
      </p:sp>
      <p:pic>
        <p:nvPicPr>
          <p:cNvPr id="4" name="Picture 3" descr="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Time-Series Decomposition (STL)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0" cy="2286000"/>
          </a:xfrm>
        </p:spPr>
        <p:txBody>
          <a:bodyPr/>
          <a:lstStyle/>
          <a:p>
            <a:pPr>
              <a:defRPr sz="1800"/>
            </a:pPr>
            <a:r>
              <a:t>Trend component is flat (stable climate over the 2 years).</a:t>
            </a:r>
          </a:p>
          <a:p>
            <a:pPr>
              <a:defRPr sz="1800"/>
            </a:pPr>
            <a:r>
              <a:t>Seasonal component dominates the signal perfectly.</a:t>
            </a:r>
          </a:p>
        </p:txBody>
      </p:sp>
      <p:pic>
        <p:nvPicPr>
          <p:cNvPr id="4" name="Picture 3" descr="st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Autocorrelation &amp; Stationarity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ACF &amp; PACF:</a:t>
            </a:r>
          </a:p>
          <a:p>
            <a:pPr lvl="1">
              <a:defRPr sz="2000"/>
            </a:pPr>
            <a:r>
              <a:t>Temperature ACF: Slow decay, indicating strong seasonality and memory.</a:t>
            </a:r>
          </a:p>
          <a:p>
            <a:pPr lvl="1">
              <a:defRPr sz="2000"/>
            </a:pPr>
            <a:r>
              <a:t>Precipitation ACF: Drops immediately; highly random/event-driven.</a:t>
            </a:r>
          </a:p>
          <a:p>
            <a:pPr>
              <a:defRPr sz="2400"/>
            </a:pPr>
            <a:r>
              <a:t>Stationarity (Augmented Dickey-Fuller Test):</a:t>
            </a:r>
          </a:p>
          <a:p>
            <a:pPr lvl="1">
              <a:defRPr sz="2000"/>
            </a:pPr>
            <a:r>
              <a:t>Non-stationary temperature (due to seasonality) requires differencing for ARIMA.</a:t>
            </a:r>
          </a:p>
          <a:p>
            <a:pPr lvl="1">
              <a:defRPr sz="2000"/>
            </a:pPr>
            <a:r>
              <a:t>Precipitation tests closer to stationary due to constant zero-mean.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 &amp;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Correlation Matrix:</a:t>
            </a:r>
          </a:p>
          <a:p>
            <a:pPr lvl="1">
              <a:defRPr sz="2000"/>
            </a:pPr>
            <a:r>
              <a:t>Temperature &amp; Humidity: Negatively correlated (hot days are dry).</a:t>
            </a:r>
          </a:p>
          <a:p>
            <a:pPr lvl="1">
              <a:defRPr sz="2000"/>
            </a:pPr>
            <a:r>
              <a:t>Precipitation &amp; Cloud Cover: Positively correlated.</a:t>
            </a:r>
          </a:p>
          <a:p>
            <a:pPr>
              <a:defRPr sz="2400"/>
            </a:pPr>
            <a:r>
              <a:t>Outlier Detection:</a:t>
            </a:r>
          </a:p>
          <a:p>
            <a:pPr lvl="1">
              <a:defRPr sz="2000"/>
            </a:pPr>
            <a:r>
              <a:t>Used Rolling Z-Score (30-day window, 3 std deviations).</a:t>
            </a:r>
          </a:p>
          <a:p>
            <a:pPr lvl="1">
              <a:defRPr sz="2000"/>
            </a:pPr>
            <a:r>
              <a:t>Accounts for seasonality (a 35°C day is normal in Aug, an outlier in Jan).</a:t>
            </a:r>
          </a:p>
          <a:p>
            <a:pPr>
              <a:defRPr sz="2400"/>
            </a:pPr>
            <a:r>
              <a:t>Suspicious Values Check:</a:t>
            </a:r>
          </a:p>
          <a:p>
            <a:pPr lvl="1">
              <a:defRPr sz="2000"/>
            </a:pPr>
            <a:r>
              <a:t>No physical impossibilities (e.g., negative rainfall or &gt;60°C temp) were found.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Summary of Findings:</a:t>
            </a:r>
          </a:p>
          <a:p>
            <a:pPr lvl="1">
              <a:defRPr sz="2000"/>
            </a:pPr>
            <a:r>
              <a:t>Cairo's weather is highly predictable on a seasonal basis.</a:t>
            </a:r>
          </a:p>
          <a:p>
            <a:pPr lvl="1">
              <a:defRPr sz="2000"/>
            </a:pPr>
            <a:r>
              <a:t>The NASA POWER API provided a clean, robust dataset.</a:t>
            </a:r>
          </a:p>
          <a:p>
            <a:pPr>
              <a:defRPr sz="2400"/>
            </a:pPr>
            <a:r>
              <a:t>Modeling Implications:</a:t>
            </a:r>
          </a:p>
          <a:p>
            <a:pPr lvl="1">
              <a:defRPr sz="2000"/>
            </a:pPr>
            <a:r>
              <a:t>Temperature forecasting should use seasonal models (e.g., SARIMA, Prophet).</a:t>
            </a:r>
          </a:p>
          <a:p>
            <a:pPr lvl="1">
              <a:defRPr sz="2000"/>
            </a:pPr>
            <a:r>
              <a:t>Precipitation modeling requires specialized approaches (e.g., zero-inflated models) due to sparsity.</a:t>
            </a:r>
          </a:p>
          <a:p>
            <a:pPr>
              <a:defRPr sz="2400"/>
            </a:pPr>
            <a:r>
              <a:t>Next Steps:</a:t>
            </a:r>
          </a:p>
          <a:p>
            <a:pPr lvl="1">
              <a:defRPr sz="2000"/>
            </a:pPr>
            <a:r>
              <a:t>Ready for predictive modeling or feature engineering.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