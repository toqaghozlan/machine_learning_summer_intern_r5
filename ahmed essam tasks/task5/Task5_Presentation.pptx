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Task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84D4D"/>
                </a:solidFill>
                <a:latin typeface="Calibri"/>
              </a:defRPr>
            </a:pPr>
            <a:r>
              <a:t>Time Series Preprocessing &amp; 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03120" cy="27432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0F5"/>
                </a:solidFill>
                <a:latin typeface="Calibri"/>
              </a:defRPr>
            </a:pPr>
            <a:r>
              <a:t>Ahmed Essam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6C80"/>
                </a:solidFill>
                <a:latin typeface="Calibri"/>
              </a:defRPr>
            </a:pPr>
            <a:r>
              <a:t>NiCST Machine Learning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Objective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Forecast Cairo daily mean temperature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Build a full time series pipeline: preprocessing → modeling → evaluation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Compare statistical models (ARIMA, SARIMAX) vs deep learning (RNN, LSTM)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Source: cairo_weather_clean.csv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Period: Jan 2022 – Dec 2023 (731 days)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Frequency: Daily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Target variable: temp_mean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Other features: temp_max, temp_min, precipitation, humidity, wind_speed, cloud_cover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Train: 671 days (Jan 2022 – Oct 2023)    |    Test: 60 days (Nov – Dec 2023)</a:t>
            </a:r>
            <a:br/>
            <a:r>
              <a:t>Chronological split — never shuffle time series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Time-based interpolation</a:t>
            </a:r>
          </a:p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Respects temporal structure</a:t>
            </a:r>
          </a:p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No gaps in the series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Outlier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Rolling z-score (window=30)</a:t>
            </a:r>
          </a:p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Adapts to seasonal norms</a:t>
            </a:r>
          </a:p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Winsorize — cap, don't delete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Cyclical: month sin/cos</a:t>
            </a:r>
          </a:p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Lag features: t-1, t-7</a:t>
            </a:r>
          </a:p>
          <a:p>
            <a:pPr>
              <a:spcAft>
                <a:spcPts val="135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Rolling mean 7d and 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6C80"/>
                </a:solidFill>
                <a:latin typeface="Calibri"/>
              </a:defRPr>
            </a:pPr>
            <a:r>
              <a:t>Key: Use rolling z-score (not global) because 35°C is normal in August but an outlier in January.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Stationarity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ARIMA requires a stationary series — constant mean and variance over time.</a:t>
            </a:r>
            <a:br/>
            <a:r>
              <a:t>Temperature data is non-stationary because of the annual seasonal cycle.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212080" cy="14630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ADF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H₀: Series is non-stationary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p &lt; 0.05 → Reject → Stationary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560320"/>
            <a:ext cx="5212080" cy="14630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KPSS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108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H₀: Series IS stationary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Calibri"/>
              </a:defRPr>
            </a:pPr>
            <a:r>
              <a:t>p &lt; 0.05 → Reject → Non-stationary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4D"/>
                </a:solidFill>
                <a:latin typeface="Calibri"/>
              </a:defRPr>
            </a:pPr>
            <a:r>
              <a:t>Solution: First differencing (d=1)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Calibri"/>
              </a:defRPr>
            </a:pPr>
            <a:r>
              <a:t>Subtract each value from the previous day → removes trend → series becomes stationary.</a:t>
            </a:r>
            <a:br/>
            <a:r>
              <a:t>Also used seasonal_decompose to visualize trend, seasonal, and residual components.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ACF/PACF &amp; ARIMA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ACF / PACF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ACF: correlation of series with its past lags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PACF: direct correlation, removing indirect effects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Significant PACF lags → AR order (p)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Significant ACF lags → MA order (q)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auto_arima used to find optimal (p,d,q)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ARIMA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Order selected by auto_arima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MAE: 6.59 °C    RMSE: 7.14 °C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MAPE: 39.9%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657600"/>
            <a:ext cx="5029200" cy="22860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8404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Calibri"/>
              </a:defRPr>
            </a:pPr>
            <a:r>
              <a:t>Problem: ARIMA can't capture annual seasonality.</a:t>
            </a:r>
            <a:br/>
            <a:br/>
            <a:r>
              <a:t>The forecast reverts to the yearly average (~24°C) even though the test period is winter (~16°C).</a:t>
            </a:r>
            <a:br/>
            <a:br/>
            <a:r>
              <a:t>→ We need a seasonal approach.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SARIMAX with Fourier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Annual cycle period = 365 days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Standard SARIMA(m=365) is computationally infeasible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m=7 (weekly) doesn't capture the yearly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The Solution: Fourier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Add sin/cos of day-of-year as exogenous variables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sin(2π × day / 365.25), cos(2π × day / 365.25)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K=2 harmonics for fine-grained seasonal encoding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Model learns: cos ≈ +1 → winter, cos ≈ -1 → summer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029200" cy="48463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SARIMAX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28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MAE:  1.23 °C   (was 6.59)</a:t>
            </a:r>
          </a:p>
          <a:p>
            <a:pPr>
              <a:spcAft>
                <a:spcPts val="1728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RMSE: 1.49 °C   (was 7.14)</a:t>
            </a:r>
          </a:p>
          <a:p>
            <a:pPr>
              <a:spcAft>
                <a:spcPts val="1728"/>
              </a:spcAft>
              <a:defRPr sz="1600">
                <a:solidFill>
                  <a:srgbClr val="F0F0F5"/>
                </a:solidFill>
                <a:latin typeface="Calibri"/>
              </a:defRPr>
            </a:pPr>
            <a:r>
              <a:t>• MAPE: 7.3%      (was 39.9%)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8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Residuals: white noise ✓</a:t>
            </a:r>
          </a:p>
          <a:p>
            <a:pPr>
              <a:spcAft>
                <a:spcPts val="1008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Ljung-Box: p &gt; 0.05 ✓</a:t>
            </a:r>
          </a:p>
          <a:p>
            <a:pPr>
              <a:spcAft>
                <a:spcPts val="1008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QQ plot: near-normal ✓</a:t>
            </a:r>
          </a:p>
          <a:p>
            <a:pPr>
              <a:spcAft>
                <a:spcPts val="1008"/>
              </a:spcAft>
              <a:defRPr sz="1400">
                <a:solidFill>
                  <a:srgbClr val="F0F0F5"/>
                </a:solidFill>
                <a:latin typeface="Calibri"/>
              </a:defRPr>
            </a:pPr>
            <a:r>
              <a:t>• Forecast with 95% confidence intervals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Walk-Forward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A single train/test split gives one noisy estimate. Walk-forward validation refits the model</a:t>
            </a:r>
            <a:br/>
            <a:r>
              <a:t>on expanding windows for a more robust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Calibri"/>
              </a:defRPr>
            </a:pPr>
            <a:r>
              <a:t>Fold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Consolas"/>
              </a:defRPr>
            </a:pPr>
            <a:r>
              <a:t>█████░░░░░░░░░░░░░░░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4D4D"/>
                </a:solidFill>
                <a:latin typeface="Calibri"/>
              </a:defRPr>
            </a:pPr>
            <a:r>
              <a:t>MAE = 58.22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Calibri"/>
              </a:defRPr>
            </a:pPr>
            <a:r>
              <a:t>Fold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████████░░░░░░░░░░░░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MAE = 1.58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Calibri"/>
              </a:defRPr>
            </a:pPr>
            <a:r>
              <a:t>Fold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████████████░░░░░░░░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MAE = 2.20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Calibri"/>
              </a:defRPr>
            </a:pPr>
            <a:r>
              <a:t>Fold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████████████████░░░░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MAE = 1.34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Calibri"/>
              </a:defRPr>
            </a:pPr>
            <a:r>
              <a:t>Fold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onsolas"/>
              </a:defRPr>
            </a:pPr>
            <a:r>
              <a:t>████████████████████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MAE = 1.35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486400"/>
            <a:ext cx="7772400" cy="7315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577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Calibri"/>
              </a:defRPr>
            </a:pPr>
            <a:r>
              <a:t>Mean Walk-Forward MAE: 12.94 °C  (Fold 1 inflated due to very small training set)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Bonus: RNN &amp; LSTM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Sliding window: last 30 days → predict next day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MinMaxScaler fitted on train only (no leakage)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EarlyStopping with patience=5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50 epochs, batch size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Simple RNN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SimpleRNN(32) → Dense(1)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MAE: 0.84 °C  |  MAPE: 4.8%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LSTM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LSTM(64, return_sequences) → Dropout(0.2)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LSTM(32) → Dense(1)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Learns long-term dependencies via gates</a:t>
            </a:r>
          </a:p>
          <a:p>
            <a:pPr>
              <a:spcAft>
                <a:spcPts val="1080"/>
              </a:spcAft>
              <a:defRPr sz="1500">
                <a:solidFill>
                  <a:srgbClr val="F0F0F5"/>
                </a:solidFill>
                <a:latin typeface="Calibri"/>
              </a:defRPr>
            </a:pPr>
            <a:r>
              <a:t>• MAE: 1.47 °C  |  MAPE: 8.6%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657600"/>
            <a:ext cx="5029200" cy="24688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Why RNN &gt; LSTM 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5"/>
                </a:solidFill>
                <a:latin typeface="Calibri"/>
              </a:defRPr>
            </a:pPr>
            <a:r>
              <a:t>With only 671 training days, the simpler RNN has enough data. LSTM's extra parameters need more data to outperform. With years of hourly data, LSTM would likely win.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MAE (°C)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RMSE (°C)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MAPE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63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103120"/>
            <a:ext cx="9418320" cy="5943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Calibri"/>
              </a:defRPr>
            </a:pPr>
            <a:r>
              <a:t>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6.59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7.14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031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39.9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6C80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743200"/>
            <a:ext cx="9418320" cy="59436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Calibri"/>
              </a:defRPr>
            </a:pPr>
            <a:r>
              <a:t>SARIMAX + Fourier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43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1.23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743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1.49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7.3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743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Great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383279"/>
            <a:ext cx="9418320" cy="5943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3832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Calibri"/>
              </a:defRPr>
            </a:pPr>
            <a:r>
              <a:t>Simple RNN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38327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0.84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7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38327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4.8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8327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98DB"/>
                </a:solidFill>
                <a:latin typeface="Calibri"/>
              </a:defRPr>
            </a:pPr>
            <a:r>
              <a:t>Best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4023359"/>
            <a:ext cx="9418320" cy="59436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02335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02335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1.47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02335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1.75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2335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0F5"/>
                </a:solidFill>
                <a:latin typeface="Calibri"/>
              </a:defRPr>
            </a:pPr>
            <a:r>
              <a:t>8.6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02335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Good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4846320"/>
            <a:ext cx="9418320" cy="13716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502920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Calibri"/>
              </a:defRPr>
            </a:pPr>
            <a:r>
              <a:t>Key Insight: Plain ARIMA fails completely on long-horizon seasonal forecasting.</a:t>
            </a:r>
            <a:br/>
            <a:r>
              <a:t>Adding Fourier exogenous variables reduced MAE by 81% (6.59 → 1.23 °C).</a:t>
            </a:r>
            <a:br/>
            <a:r>
              <a:t>Neural networks perform well because they see recent actual temperatures in their input windows.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4D4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Stationarity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C80"/>
                </a:solidFill>
                <a:latin typeface="Calibri"/>
              </a:defRPr>
            </a:pPr>
            <a:r>
              <a:t>Always test with ADF + KPSS before fitting ARIMA. Differencing makes the series stationary.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4D4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Annual seasonality needs Fourier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C80"/>
                </a:solidFill>
                <a:latin typeface="Calibri"/>
              </a:defRPr>
            </a:pPr>
            <a:r>
              <a:t>When m is too large for SARIMA (m=365), use sin/cos of day-of-year as exogenous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4D4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Never shuffle time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49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C80"/>
                </a:solidFill>
                <a:latin typeface="Calibri"/>
              </a:defRPr>
            </a:pPr>
            <a:r>
              <a:t>Chronological train/test split prevents data leakage. Walk-forward validation is more robust.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4D4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Scale on train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C80"/>
                </a:solidFill>
                <a:latin typeface="Calibri"/>
              </a:defRPr>
            </a:pPr>
            <a:r>
              <a:t>For neural networks, fit MinMaxScaler on training data. Fitting on all data leaks future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4D4D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 complexity vs data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C80"/>
                </a:solidFill>
                <a:latin typeface="Calibri"/>
              </a:defRPr>
            </a:pPr>
            <a:r>
              <a:t>Simpler models (RNN) can beat complex ones (LSTM) when data is limited.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Deliverables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Cleaned, resampled, gap-free time series with preprocessing documentation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Stationarity test results (ADF + KPSS) and differencing decisions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ACF/PACF plots with manual reasoning + auto_arima results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Fitted SARIMAX model with residual diagnostics + Ljung-Box test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Forecast plot with 95% confidence intervals vs actual data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MAE / RMSE / MAPE on held-out test set + walk-forward validation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RNN &amp; LSTM pipeline with training curve and comparison against SARIMAX</a:t>
            </a:r>
          </a:p>
          <a:p>
            <a:pPr>
              <a:spcAft>
                <a:spcPts val="1632"/>
              </a:spcAft>
              <a:defRPr sz="1700">
                <a:solidFill>
                  <a:srgbClr val="F0F0F5"/>
                </a:solidFill>
                <a:latin typeface="Calibri"/>
              </a:defRPr>
            </a:pPr>
            <a:r>
              <a:t>✅  Model comparison table and written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