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3" d="100"/>
          <a:sy n="93" d="100"/>
        </p:scale>
        <p:origin x="53" y="90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330084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206240" cy="4206240"/>
          </a:xfrm>
          <a:prstGeom prst="ellipse">
            <a:avLst/>
          </a:prstGeom>
          <a:solidFill>
            <a:srgbClr val="1331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607040" y="-731520"/>
            <a:ext cx="2377440" cy="237744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-1280160" y="4754880"/>
            <a:ext cx="3291840" cy="3291840"/>
          </a:xfrm>
          <a:prstGeom prst="ellipse">
            <a:avLst/>
          </a:prstGeom>
          <a:solidFill>
            <a:srgbClr val="1331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05156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9F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CELLULA TECHNOLOGIES   •   ML INTERNSHIP PROGRAM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150876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 Series Forecasting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731520" y="2395728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5 — Preprocessing, ARIMA/SARIMA &amp; Bonus LSTM/RNN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31520" y="30632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Continuing directly from Task 4’s cleaned Damietta weather series — stationarity-tested, modeled with SARIMAX + annual Fourier terms, forecast with confidence intervals, and benchmarked against naive and deep-learning baselines.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4160520"/>
            <a:ext cx="457200" cy="457200"/>
          </a:xfrm>
          <a:prstGeom prst="ellipse">
            <a:avLst/>
          </a:prstGeom>
          <a:solidFill>
            <a:srgbClr val="13315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0" descr="/home/claude/work/icons/database-mi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390" y="4263390"/>
            <a:ext cx="251460" cy="2514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98448" y="41148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731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1298448" y="44348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observations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3520440" y="4160520"/>
            <a:ext cx="457200" cy="457200"/>
          </a:xfrm>
          <a:prstGeom prst="ellipse">
            <a:avLst/>
          </a:prstGeom>
          <a:solidFill>
            <a:srgbClr val="13315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1" descr="/home/claude/work/icons/calendar-mi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23310" y="4263390"/>
            <a:ext cx="251460" cy="2514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087368" y="41148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90d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4087368" y="44348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test window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6309360" y="4160520"/>
            <a:ext cx="457200" cy="457200"/>
          </a:xfrm>
          <a:prstGeom prst="ellipse">
            <a:avLst/>
          </a:prstGeom>
          <a:solidFill>
            <a:srgbClr val="13315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2" descr="/home/claude/work/icons/trending-up-mi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2230" y="4263390"/>
            <a:ext cx="251460" cy="2514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876288" y="41148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SARIMAX</a:t>
            </a:r>
            <a:endParaRPr lang="en-US" sz="1700" dirty="0"/>
          </a:p>
        </p:txBody>
      </p:sp>
      <p:sp>
        <p:nvSpPr>
          <p:cNvPr id="20" name="Text 15"/>
          <p:cNvSpPr/>
          <p:nvPr/>
        </p:nvSpPr>
        <p:spPr>
          <a:xfrm>
            <a:off x="6876288" y="44348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forecasting model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731520" y="58064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Ahmed Elghrably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731520" y="61081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ML Engineering Student, Damietta University</a:t>
            </a:r>
            <a:endParaRPr lang="en-US" sz="1150" dirty="0"/>
          </a:p>
        </p:txBody>
      </p:sp>
      <p:sp>
        <p:nvSpPr>
          <p:cNvPr id="23" name="Text 18"/>
          <p:cNvSpPr/>
          <p:nvPr/>
        </p:nvSpPr>
        <p:spPr>
          <a:xfrm>
            <a:off x="8138160" y="580644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damietta_2024_2025_clean.csv</a:t>
            </a:r>
            <a:endParaRPr lang="en-US" sz="1150" dirty="0"/>
          </a:p>
        </p:txBody>
      </p:sp>
      <p:sp>
        <p:nvSpPr>
          <p:cNvPr id="24" name="Text 19"/>
          <p:cNvSpPr/>
          <p:nvPr/>
        </p:nvSpPr>
        <p:spPr>
          <a:xfrm>
            <a:off x="8138160" y="610819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731 rows • 2024–2025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81360" y="45720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EAF4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50292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Preprocessing Pipeline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051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steps from raw daily series to a model-ready, leakage-free train/test split.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691640"/>
            <a:ext cx="2011680" cy="2514600"/>
          </a:xfrm>
          <a:prstGeom prst="roundRect">
            <a:avLst>
              <a:gd name="adj" fmla="val 3636"/>
            </a:avLst>
          </a:prstGeom>
          <a:solidFill>
            <a:srgbClr val="EA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96112" y="1874520"/>
            <a:ext cx="438912" cy="43891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/home/claude/work/icons/database-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867" y="1973275"/>
            <a:ext cx="241402" cy="24140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359152" y="1737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9FD8C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68680" y="2423160"/>
            <a:ext cx="1773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Resample &amp; Align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68680" y="2907792"/>
            <a:ext cx="177393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50"/>
              </a:lnSpc>
              <a:buNone/>
            </a:pPr>
            <a:r>
              <a:rPr lang="en-US" sz="9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asfreq('D') confirms sorted, gap-free daily index — 0 missing rows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2871216" y="1691640"/>
            <a:ext cx="2011680" cy="2514600"/>
          </a:xfrm>
          <a:prstGeom prst="roundRect">
            <a:avLst>
              <a:gd name="adj" fmla="val 3636"/>
            </a:avLst>
          </a:prstGeom>
          <a:solidFill>
            <a:srgbClr val="EA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3035808" y="1874520"/>
            <a:ext cx="438912" cy="43891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/home/claude/work/icons/droplet-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34563" y="1973275"/>
            <a:ext cx="241402" cy="24140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498848" y="1737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9FD8C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3008376" y="2423160"/>
            <a:ext cx="1773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Missing Values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3008376" y="2907792"/>
            <a:ext cx="177393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50"/>
              </a:lnSpc>
              <a:buNone/>
            </a:pPr>
            <a:r>
              <a:rPr lang="en-US" sz="9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Time-aware interpolation (general-purpose; no-op on this gap-free set)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5010912" y="1691640"/>
            <a:ext cx="2011680" cy="2514600"/>
          </a:xfrm>
          <a:prstGeom prst="roundRect">
            <a:avLst>
              <a:gd name="adj" fmla="val 3636"/>
            </a:avLst>
          </a:prstGeom>
          <a:solidFill>
            <a:srgbClr val="EA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5175504" y="1874520"/>
            <a:ext cx="438912" cy="43891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2" descr="/home/claude/work/icons/alert-triangle-te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4259" y="1973275"/>
            <a:ext cx="241402" cy="24140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638544" y="1737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9FD8C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5148072" y="2423160"/>
            <a:ext cx="1773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Outlier Treatment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5148072" y="2907792"/>
            <a:ext cx="177393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50"/>
              </a:lnSpc>
              <a:buNone/>
            </a:pPr>
            <a:r>
              <a:rPr lang="en-US" sz="9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 rolling z-score (|Z|&gt;2.5), seasonal not global — 2 mild flags, none dropped</a:t>
            </a:r>
            <a:endParaRPr lang="en-US" sz="900" dirty="0"/>
          </a:p>
        </p:txBody>
      </p:sp>
      <p:sp>
        <p:nvSpPr>
          <p:cNvPr id="23" name="Shape 18"/>
          <p:cNvSpPr/>
          <p:nvPr/>
        </p:nvSpPr>
        <p:spPr>
          <a:xfrm>
            <a:off x="7150608" y="1691640"/>
            <a:ext cx="2011680" cy="2514600"/>
          </a:xfrm>
          <a:prstGeom prst="roundRect">
            <a:avLst>
              <a:gd name="adj" fmla="val 3636"/>
            </a:avLst>
          </a:prstGeom>
          <a:solidFill>
            <a:srgbClr val="EA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19"/>
          <p:cNvSpPr/>
          <p:nvPr/>
        </p:nvSpPr>
        <p:spPr>
          <a:xfrm>
            <a:off x="7315200" y="1874520"/>
            <a:ext cx="438912" cy="43891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3" descr="/home/claude/work/icons/grid-te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13955" y="1973275"/>
            <a:ext cx="241402" cy="24140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8778240" y="1737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9FD8C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7287768" y="2423160"/>
            <a:ext cx="1773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Engineering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7287768" y="2907792"/>
            <a:ext cx="177393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50"/>
              </a:lnSpc>
              <a:buNone/>
            </a:pPr>
            <a:r>
              <a:rPr lang="en-US" sz="9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Lags t-1/t-7/t-365, 7-/30-day rolling stats, day-of-year sin/cos</a:t>
            </a:r>
            <a:endParaRPr lang="en-US" sz="900" dirty="0"/>
          </a:p>
        </p:txBody>
      </p:sp>
      <p:sp>
        <p:nvSpPr>
          <p:cNvPr id="29" name="Shape 23"/>
          <p:cNvSpPr/>
          <p:nvPr/>
        </p:nvSpPr>
        <p:spPr>
          <a:xfrm>
            <a:off x="9290304" y="1691640"/>
            <a:ext cx="2011680" cy="2514600"/>
          </a:xfrm>
          <a:prstGeom prst="roundRect">
            <a:avLst>
              <a:gd name="adj" fmla="val 3636"/>
            </a:avLst>
          </a:prstGeom>
          <a:solidFill>
            <a:srgbClr val="EA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4"/>
          <p:cNvSpPr/>
          <p:nvPr/>
        </p:nvSpPr>
        <p:spPr>
          <a:xfrm>
            <a:off x="9454896" y="1874520"/>
            <a:ext cx="438912" cy="43891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1" name="Image 4" descr="/home/claude/work/icons/calendar-tea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53651" y="1973275"/>
            <a:ext cx="241402" cy="241402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10917936" y="1737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9FD8C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200" dirty="0"/>
          </a:p>
        </p:txBody>
      </p:sp>
      <p:sp>
        <p:nvSpPr>
          <p:cNvPr id="33" name="Text 26"/>
          <p:cNvSpPr/>
          <p:nvPr/>
        </p:nvSpPr>
        <p:spPr>
          <a:xfrm>
            <a:off x="9427464" y="2423160"/>
            <a:ext cx="1773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Time-Aware Split</a:t>
            </a:r>
            <a:endParaRPr lang="en-US" sz="1200" dirty="0"/>
          </a:p>
        </p:txBody>
      </p:sp>
      <p:sp>
        <p:nvSpPr>
          <p:cNvPr id="34" name="Text 27"/>
          <p:cNvSpPr/>
          <p:nvPr/>
        </p:nvSpPr>
        <p:spPr>
          <a:xfrm>
            <a:off x="9427464" y="2907792"/>
            <a:ext cx="177393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50"/>
              </a:lnSpc>
              <a:buNone/>
            </a:pPr>
            <a:r>
              <a:rPr lang="en-US" sz="9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Chronological cutoff — last 90 days held out, never shuffled</a:t>
            </a:r>
            <a:endParaRPr lang="en-US" sz="900" dirty="0"/>
          </a:p>
        </p:txBody>
      </p:sp>
      <p:sp>
        <p:nvSpPr>
          <p:cNvPr id="35" name="Shape 28"/>
          <p:cNvSpPr/>
          <p:nvPr/>
        </p:nvSpPr>
        <p:spPr>
          <a:xfrm>
            <a:off x="731520" y="4434840"/>
            <a:ext cx="10698480" cy="1417320"/>
          </a:xfrm>
          <a:prstGeom prst="roundRect">
            <a:avLst>
              <a:gd name="adj" fmla="val 5161"/>
            </a:avLst>
          </a:prstGeom>
          <a:solidFill>
            <a:srgbClr val="0B25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29"/>
          <p:cNvSpPr/>
          <p:nvPr/>
        </p:nvSpPr>
        <p:spPr>
          <a:xfrm>
            <a:off x="1005840" y="4572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9F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RESULT</a:t>
            </a:r>
            <a:endParaRPr lang="en-US" sz="1100" dirty="0"/>
          </a:p>
        </p:txBody>
      </p:sp>
      <p:sp>
        <p:nvSpPr>
          <p:cNvPr id="37" name="Text 30"/>
          <p:cNvSpPr/>
          <p:nvPr/>
        </p:nvSpPr>
        <p:spPr>
          <a:xfrm>
            <a:off x="1005840" y="4892040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Train: </a:t>
            </a: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641 days</a:t>
            </a:r>
            <a:r>
              <a:rPr lang="en-US" sz="135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(2024-01-01 → 2025-10-02)      Test: </a:t>
            </a: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days</a:t>
            </a:r>
            <a:r>
              <a:rPr lang="en-US" sz="135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(2025-10-03 → 2025-12-31)</a:t>
            </a:r>
            <a:endParaRPr lang="en-US" sz="1350" dirty="0"/>
          </a:p>
        </p:txBody>
      </p:sp>
      <p:sp>
        <p:nvSpPr>
          <p:cNvPr id="38" name="Text 31"/>
          <p:cNvSpPr/>
          <p:nvPr/>
        </p:nvSpPr>
        <p:spPr>
          <a:xfrm>
            <a:off x="1005840" y="5349240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Scaling: ARIMA/SARIMAX models the raw/differenced series directly (no scaling). RNN/LSTM use MinMaxScaler fit on train only, applied to both splits (§6).</a:t>
            </a:r>
            <a:endParaRPr lang="en-US" sz="1050" dirty="0"/>
          </a:p>
        </p:txBody>
      </p:sp>
      <p:sp>
        <p:nvSpPr>
          <p:cNvPr id="39" name="Text 32"/>
          <p:cNvSpPr/>
          <p:nvPr/>
        </p:nvSpPr>
        <p:spPr>
          <a:xfrm>
            <a:off x="457200" y="652881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Damietta Weather Analytics  •  Task 5: Time-Series Forecasting</a:t>
            </a:r>
            <a:endParaRPr lang="en-US" sz="1000" dirty="0"/>
          </a:p>
        </p:txBody>
      </p:sp>
      <p:sp>
        <p:nvSpPr>
          <p:cNvPr id="40" name="Text 33"/>
          <p:cNvSpPr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81360" y="45720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1331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50292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Stationarity Checks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0515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ADF and KPSS have opposite null hypotheses — agreement between them is a stronger signal than either test alone.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691640"/>
            <a:ext cx="10698480" cy="384048"/>
          </a:xfrm>
          <a:prstGeom prst="rect">
            <a:avLst/>
          </a:prstGeom>
          <a:solidFill>
            <a:srgbClr val="1331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41248" y="169164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9F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950208" y="169164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9F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ADF (stat / p)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327648" y="169164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9F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KPSS (stat / p)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796528" y="169164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9F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31520" y="2075688"/>
            <a:ext cx="10698480" cy="566928"/>
          </a:xfrm>
          <a:prstGeom prst="rect">
            <a:avLst/>
          </a:prstGeom>
          <a:solidFill>
            <a:srgbClr val="1331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41248" y="2075688"/>
            <a:ext cx="2907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temperature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950208" y="2075688"/>
            <a:ext cx="21762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-1.38  /  0.593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327648" y="2075688"/>
            <a:ext cx="22677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0.540  /  0.033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796528" y="2075688"/>
            <a:ext cx="2542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NON-stationary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" y="2642616"/>
            <a:ext cx="10698480" cy="566928"/>
          </a:xfrm>
          <a:prstGeom prst="rect">
            <a:avLst/>
          </a:prstGeom>
          <a:solidFill>
            <a:srgbClr val="154F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41248" y="2642616"/>
            <a:ext cx="2907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difference (d=1)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950208" y="2642616"/>
            <a:ext cx="21762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-15.83  /  0.000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27648" y="2642616"/>
            <a:ext cx="22677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0.133  /  0.100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796528" y="2642616"/>
            <a:ext cx="2542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FD8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Stationary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31520" y="3529584"/>
            <a:ext cx="10698480" cy="1463040"/>
          </a:xfrm>
          <a:prstGeom prst="roundRect">
            <a:avLst>
              <a:gd name="adj" fmla="val 5000"/>
            </a:avLst>
          </a:prstGeom>
          <a:solidFill>
            <a:srgbClr val="1331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005840" y="3712464"/>
            <a:ext cx="502920" cy="502920"/>
          </a:xfrm>
          <a:prstGeom prst="ellipse">
            <a:avLst/>
          </a:prstGeom>
          <a:solidFill>
            <a:srgbClr val="154F6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0" descr="/home/claude/work/icons/check-circle-mi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997" y="3825621"/>
            <a:ext cx="276606" cy="276606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1691640" y="3685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9F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1691640" y="3959352"/>
            <a:ext cx="9509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ADF and KPSS agree: the raw series is non-stationary, and a single first difference (d=1) is enough to pass both tests. The remaining annual structure is handled with Fourier exogenous regressors in §5, not a literal seasonal difference — diff(365) alone would leave only 276 of 641 training rows.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457200" y="652881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Damietta Weather Analytics  •  Task 5: Time-Series Forecasting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9FD8C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81360" y="45720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EAF4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50292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Selection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051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seasonality via Fourier exogenous terms; non-seasonal order chosen by auto_arima.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554480"/>
            <a:ext cx="6035040" cy="2880360"/>
          </a:xfrm>
          <a:prstGeom prst="roundRect">
            <a:avLst>
              <a:gd name="adj" fmla="val 1905"/>
            </a:avLst>
          </a:prstGeom>
          <a:solidFill>
            <a:srgbClr val="EAF4F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t5deck/imgs/cell21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664208"/>
            <a:ext cx="5760720" cy="23774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406908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i="1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ACF / PACF on the first-differenced series — both decay gradually rather than cutting off sharply, consistent with a mixed ARMA(p,q).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6995160" y="157276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8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SEASONALITY → FOURIER TERMS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6995160" y="1901952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K=3 harmonics of sin/cos(2π·k·day-of-year/365.25), passed as exogenous regressors so auto_arima only searches the non-seasonal (p,d,q) for the leftover errors.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995160" y="2697480"/>
            <a:ext cx="4434840" cy="1783080"/>
          </a:xfrm>
          <a:prstGeom prst="roundRect">
            <a:avLst>
              <a:gd name="adj" fmla="val 4103"/>
            </a:avLst>
          </a:prstGeom>
          <a:solidFill>
            <a:srgbClr val="0B25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7223760" y="2834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9F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CHOSEN ORDER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223760" y="310896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SARIMAX(2, 1, 2)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7223760" y="365760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K=1 harmonic (sin_1, cos_1) is significant (p&lt;0.001) — the annual cycle is close to a single sine wave; K=2,3 add little.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995160" y="461772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8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FIT (train, n=641)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995160" y="4937760"/>
            <a:ext cx="1417320" cy="777240"/>
          </a:xfrm>
          <a:prstGeom prst="roundRect">
            <a:avLst>
              <a:gd name="adj" fmla="val 7059"/>
            </a:avLst>
          </a:prstGeom>
          <a:solidFill>
            <a:srgbClr val="EA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995160" y="5010912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1483.9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995160" y="537667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8531352" y="4937760"/>
            <a:ext cx="1417320" cy="777240"/>
          </a:xfrm>
          <a:prstGeom prst="roundRect">
            <a:avLst>
              <a:gd name="adj" fmla="val 7059"/>
            </a:avLst>
          </a:prstGeom>
          <a:solidFill>
            <a:srgbClr val="EA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8531352" y="5010912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1532.9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8531352" y="537667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BIC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10067544" y="4937760"/>
            <a:ext cx="1417320" cy="777240"/>
          </a:xfrm>
          <a:prstGeom prst="roundRect">
            <a:avLst>
              <a:gd name="adj" fmla="val 7059"/>
            </a:avLst>
          </a:prstGeom>
          <a:solidFill>
            <a:srgbClr val="EA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10067544" y="5010912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−730.9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10067544" y="537667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Log-Lik.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457200" y="652881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Damietta Weather Analytics  •  Task 5: Time-Series Forecasting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81360" y="45720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EAF4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50292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Residual Diagnostics &amp; Forecast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5120640" cy="3977640"/>
          </a:xfrm>
          <a:prstGeom prst="roundRect">
            <a:avLst>
              <a:gd name="adj" fmla="val 1379"/>
            </a:avLst>
          </a:prstGeom>
          <a:solidFill>
            <a:srgbClr val="EAF4F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t5deck/imgs/cell27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1371600"/>
            <a:ext cx="4901184" cy="3566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41248" y="4956048"/>
            <a:ext cx="4901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plot_diagnostics(): standardized residuals, histogram vs. N(0,1), Q-Q plot, correlogram.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6035040" y="1280160"/>
            <a:ext cx="5422392" cy="3246120"/>
          </a:xfrm>
          <a:prstGeom prst="roundRect">
            <a:avLst>
              <a:gd name="adj" fmla="val 1690"/>
            </a:avLst>
          </a:prstGeom>
          <a:solidFill>
            <a:srgbClr val="EAF4F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1" descr="/home/claude/t5deck/imgs/cell30_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4768" y="1371600"/>
            <a:ext cx="5212080" cy="306324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035040" y="4663440"/>
            <a:ext cx="5422392" cy="1463040"/>
          </a:xfrm>
          <a:prstGeom prst="roundRect">
            <a:avLst>
              <a:gd name="adj" fmla="val 5000"/>
            </a:avLst>
          </a:prstGeom>
          <a:solidFill>
            <a:srgbClr val="0B25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6263640" y="4791456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60" dirty="0">
                <a:solidFill>
                  <a:srgbClr val="9F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LJUNG-BOX (RESIDUAL AUTOCORRELATION)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6263640" y="50749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lag 10: p=0.029 (borderline)   </a:t>
            </a: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lag 20: p=0.256      lag 30: p=0.635
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6263640" y="544068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Residuals are close to white noise at 20/30 lags; Q-Q shows fatter tails than Gaussian (occasional cold-snap jumps) — point forecasts are trustworthy, 95% CIs may be a touch narrow on the tails.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457200" y="652881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Damietta Weather Analytics  •  Task 5: Time-Series Forecasting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81360" y="45720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1331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50292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— Metrics vs. Baselines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0515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90-day-ahead forecast, scored against two naive baselines the brief itself recommends keeping.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691640"/>
            <a:ext cx="3401568" cy="2880360"/>
          </a:xfrm>
          <a:prstGeom prst="roundRect">
            <a:avLst>
              <a:gd name="adj" fmla="val 2857"/>
            </a:avLst>
          </a:prstGeom>
          <a:solidFill>
            <a:srgbClr val="154F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60120" y="192024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/home/claude/work/icons/trending-up-mi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3277" y="2033397"/>
            <a:ext cx="276606" cy="27660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0120" y="2514600"/>
            <a:ext cx="2990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Persistence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960120" y="2834640"/>
            <a:ext cx="29900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9FD8C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0.62°C</a:t>
            </a:r>
            <a:endParaRPr lang="en-US" sz="3400" dirty="0"/>
          </a:p>
        </p:txBody>
      </p:sp>
      <p:sp>
        <p:nvSpPr>
          <p:cNvPr id="10" name="Text 7"/>
          <p:cNvSpPr/>
          <p:nvPr/>
        </p:nvSpPr>
        <p:spPr>
          <a:xfrm>
            <a:off x="960120" y="3456432"/>
            <a:ext cx="2990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 •  RMSE 0.76  •  MAPE 2.89%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960120" y="3840480"/>
            <a:ext cx="30358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i="1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tomorrow = today — hard to beat given day-to-day autocorrelation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4270248" y="1691640"/>
            <a:ext cx="3401568" cy="2880360"/>
          </a:xfrm>
          <a:prstGeom prst="roundRect">
            <a:avLst>
              <a:gd name="adj" fmla="val 2857"/>
            </a:avLst>
          </a:prstGeom>
          <a:solidFill>
            <a:srgbClr val="1331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4498848" y="1920240"/>
            <a:ext cx="502920" cy="502920"/>
          </a:xfrm>
          <a:prstGeom prst="ellipse">
            <a:avLst/>
          </a:prstGeom>
          <a:solidFill>
            <a:srgbClr val="0B254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1" descr="/home/claude/work/icons/calendar-mi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2005" y="2033397"/>
            <a:ext cx="276606" cy="27660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498848" y="2514600"/>
            <a:ext cx="2990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Seasonal-Naive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4498848" y="2834640"/>
            <a:ext cx="29900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9FD8C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1.44°C</a:t>
            </a:r>
            <a:endParaRPr lang="en-US" sz="3400" dirty="0"/>
          </a:p>
        </p:txBody>
      </p:sp>
      <p:sp>
        <p:nvSpPr>
          <p:cNvPr id="17" name="Text 13"/>
          <p:cNvSpPr/>
          <p:nvPr/>
        </p:nvSpPr>
        <p:spPr>
          <a:xfrm>
            <a:off x="4498848" y="3456432"/>
            <a:ext cx="2990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 •  RMSE 1.76  •  MAPE 6.60%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4498848" y="3840480"/>
            <a:ext cx="30358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i="1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= same date last year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7808976" y="1691640"/>
            <a:ext cx="3401568" cy="2880360"/>
          </a:xfrm>
          <a:prstGeom prst="roundRect">
            <a:avLst>
              <a:gd name="adj" fmla="val 2857"/>
            </a:avLst>
          </a:prstGeom>
          <a:solidFill>
            <a:srgbClr val="1331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8037576" y="1920240"/>
            <a:ext cx="502920" cy="502920"/>
          </a:xfrm>
          <a:prstGeom prst="ellipse">
            <a:avLst/>
          </a:prstGeom>
          <a:solidFill>
            <a:srgbClr val="0B254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2" descr="/home/claude/work/icons/activity-mi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50733" y="2033397"/>
            <a:ext cx="276606" cy="276606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037576" y="2514600"/>
            <a:ext cx="2990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SARIMAX (static 90d)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8037576" y="2834640"/>
            <a:ext cx="29900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9FD8C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1.24°C</a:t>
            </a:r>
            <a:endParaRPr lang="en-US" sz="3400" dirty="0"/>
          </a:p>
        </p:txBody>
      </p:sp>
      <p:sp>
        <p:nvSpPr>
          <p:cNvPr id="24" name="Text 19"/>
          <p:cNvSpPr/>
          <p:nvPr/>
        </p:nvSpPr>
        <p:spPr>
          <a:xfrm>
            <a:off x="8037576" y="3456432"/>
            <a:ext cx="2990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 •  RMSE 1.56  •  MAPE 5.53%</a:t>
            </a:r>
            <a:endParaRPr lang="en-US" sz="950" dirty="0"/>
          </a:p>
        </p:txBody>
      </p:sp>
      <p:sp>
        <p:nvSpPr>
          <p:cNvPr id="25" name="Text 20"/>
          <p:cNvSpPr/>
          <p:nvPr/>
        </p:nvSpPr>
        <p:spPr>
          <a:xfrm>
            <a:off x="8037576" y="3840480"/>
            <a:ext cx="30358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i="1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single-origin forecast, no new information to update on over 90 days</a:t>
            </a:r>
            <a:endParaRPr lang="en-US" sz="950" dirty="0"/>
          </a:p>
        </p:txBody>
      </p:sp>
      <p:sp>
        <p:nvSpPr>
          <p:cNvPr id="26" name="Shape 21"/>
          <p:cNvSpPr/>
          <p:nvPr/>
        </p:nvSpPr>
        <p:spPr>
          <a:xfrm>
            <a:off x="731520" y="4800600"/>
            <a:ext cx="10698480" cy="1234440"/>
          </a:xfrm>
          <a:prstGeom prst="roundRect">
            <a:avLst>
              <a:gd name="adj" fmla="val 5926"/>
            </a:avLst>
          </a:prstGeom>
          <a:solidFill>
            <a:srgbClr val="1331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2"/>
          <p:cNvSpPr/>
          <p:nvPr/>
        </p:nvSpPr>
        <p:spPr>
          <a:xfrm>
            <a:off x="960120" y="4956048"/>
            <a:ext cx="457200" cy="457200"/>
          </a:xfrm>
          <a:prstGeom prst="ellipse">
            <a:avLst/>
          </a:prstGeom>
          <a:solidFill>
            <a:srgbClr val="154F6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8" name="Image 3" descr="/home/claude/work/icons/alert-triangle-min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2990" y="5058918"/>
            <a:ext cx="251460" cy="25146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1554480" y="4892040"/>
            <a:ext cx="9692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result: at this static 90-day horizon, plain persistence beats SARIMAX — exactly what the brief’s “keep a naive baseline” advice is designed to catch. Not a bug: a single far-off forecast has nothing new to update on and decays toward the deterministic seasonal curve. Tested at a realistic horizon next →</a:t>
            </a:r>
            <a:endParaRPr lang="en-US" sz="1150" dirty="0"/>
          </a:p>
        </p:txBody>
      </p:sp>
      <p:sp>
        <p:nvSpPr>
          <p:cNvPr id="30" name="Text 24"/>
          <p:cNvSpPr/>
          <p:nvPr/>
        </p:nvSpPr>
        <p:spPr>
          <a:xfrm>
            <a:off x="457200" y="652881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Damietta Weather Analytics  •  Task 5: Time-Series Forecasting</a:t>
            </a:r>
            <a:endParaRPr lang="en-US" sz="1000" dirty="0"/>
          </a:p>
        </p:txBody>
      </p:sp>
      <p:sp>
        <p:nvSpPr>
          <p:cNvPr id="31" name="Text 25"/>
          <p:cNvSpPr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9FD8C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81360" y="45720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EAF4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50292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Walk-Forward Validation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051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Refitting on 5 rolling 14-day folds — a more realistic test than one static 90-day-ahead forecast.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5120640" cy="365760"/>
          </a:xfrm>
          <a:prstGeom prst="rect">
            <a:avLst/>
          </a:prstGeom>
          <a:solidFill>
            <a:srgbClr val="0B25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04672" y="1600200"/>
            <a:ext cx="438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9F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353312" y="1600200"/>
            <a:ext cx="144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9F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ends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907792" y="1600200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9F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window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919472" y="1600200"/>
            <a:ext cx="896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9F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31520" y="1965960"/>
            <a:ext cx="5120640" cy="402336"/>
          </a:xfrm>
          <a:prstGeom prst="rect">
            <a:avLst/>
          </a:prstGeom>
          <a:solidFill>
            <a:srgbClr val="EA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04672" y="1965960"/>
            <a:ext cx="438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353312" y="1965960"/>
            <a:ext cx="14447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...10-22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907792" y="1965960"/>
            <a:ext cx="19019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10-23 → 11-05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919472" y="1965960"/>
            <a:ext cx="8961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1.223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31520" y="2368296"/>
            <a:ext cx="5120640" cy="40233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04672" y="2368296"/>
            <a:ext cx="438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353312" y="2368296"/>
            <a:ext cx="14447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...11-05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907792" y="2368296"/>
            <a:ext cx="19019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11-06 → 11-19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919472" y="2368296"/>
            <a:ext cx="8961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0.719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31520" y="2770632"/>
            <a:ext cx="5120640" cy="402336"/>
          </a:xfrm>
          <a:prstGeom prst="rect">
            <a:avLst/>
          </a:prstGeom>
          <a:solidFill>
            <a:srgbClr val="EA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04672" y="2770632"/>
            <a:ext cx="438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353312" y="2770632"/>
            <a:ext cx="14447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...11-19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907792" y="2770632"/>
            <a:ext cx="19019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11-20 → 12-03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919472" y="2770632"/>
            <a:ext cx="8961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1.133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731520" y="3172968"/>
            <a:ext cx="5120640" cy="40233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04672" y="3172968"/>
            <a:ext cx="438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1353312" y="3172968"/>
            <a:ext cx="14447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...12-03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2907792" y="3172968"/>
            <a:ext cx="19019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12-04 → 12-17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919472" y="3172968"/>
            <a:ext cx="8961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0.851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731520" y="3575304"/>
            <a:ext cx="5120640" cy="402336"/>
          </a:xfrm>
          <a:prstGeom prst="rect">
            <a:avLst/>
          </a:prstGeom>
          <a:solidFill>
            <a:srgbClr val="EA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804672" y="3575304"/>
            <a:ext cx="438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1353312" y="3575304"/>
            <a:ext cx="14447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...12-17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2907792" y="3575304"/>
            <a:ext cx="19019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12-18 → 12-31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919472" y="3575304"/>
            <a:ext cx="8961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0.533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731520" y="4160520"/>
            <a:ext cx="5120640" cy="1051560"/>
          </a:xfrm>
          <a:prstGeom prst="roundRect">
            <a:avLst>
              <a:gd name="adj" fmla="val 6957"/>
            </a:avLst>
          </a:prstGeom>
          <a:solidFill>
            <a:srgbClr val="0B25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914400" y="4251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9F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WALK-FORWARD MEAN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914400" y="452628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0.89°C  (±0.26)</a:t>
            </a:r>
            <a:endParaRPr lang="en-US" sz="2400" dirty="0"/>
          </a:p>
        </p:txBody>
      </p:sp>
      <p:sp>
        <p:nvSpPr>
          <p:cNvPr id="38" name="Text 36"/>
          <p:cNvSpPr/>
          <p:nvPr/>
        </p:nvSpPr>
        <p:spPr>
          <a:xfrm>
            <a:off x="731520" y="534924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i="1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Much closer to persistence’s 0.62°C than the static 90-day view suggested — the earlier gap was mostly a horizon artifact.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172200" y="1600200"/>
            <a:ext cx="5285232" cy="4434840"/>
          </a:xfrm>
          <a:prstGeom prst="roundRect">
            <a:avLst>
              <a:gd name="adj" fmla="val 1237"/>
            </a:avLst>
          </a:prstGeom>
          <a:solidFill>
            <a:srgbClr val="EAF4F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0" name="Image 0" descr="/home/claude/t5deck/imgs/cell36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1709928"/>
            <a:ext cx="5065776" cy="3383280"/>
          </a:xfrm>
          <a:prstGeom prst="rect">
            <a:avLst/>
          </a:prstGeom>
        </p:spPr>
      </p:pic>
      <p:sp>
        <p:nvSpPr>
          <p:cNvPr id="41" name="Text 38"/>
          <p:cNvSpPr/>
          <p:nvPr/>
        </p:nvSpPr>
        <p:spPr>
          <a:xfrm>
            <a:off x="6281928" y="5166360"/>
            <a:ext cx="50657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i="1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grows from ~0.5°C at t+1 to a peak around t+50–60, then plateaus — confirms SARIMAX is a far stronger short-horizon forecaster than the static view alone suggests.</a:t>
            </a:r>
            <a:endParaRPr lang="en-US" sz="950" dirty="0"/>
          </a:p>
        </p:txBody>
      </p:sp>
      <p:sp>
        <p:nvSpPr>
          <p:cNvPr id="42" name="Text 39"/>
          <p:cNvSpPr/>
          <p:nvPr/>
        </p:nvSpPr>
        <p:spPr>
          <a:xfrm>
            <a:off x="457200" y="652881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Damietta Weather Analytics  •  Task 5: Time-Series Forecasting</a:t>
            </a:r>
            <a:endParaRPr lang="en-US" sz="1000" dirty="0"/>
          </a:p>
        </p:txBody>
      </p:sp>
      <p:sp>
        <p:nvSpPr>
          <p:cNvPr id="43" name="Text 40"/>
          <p:cNvSpPr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81360" y="45720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1331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50292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Bonus: RNN &amp; LSTM Forecasting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0515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 lookback windows, MinMaxScaler fit on train only — a statistical model vs. two deep-learning approaches.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5943600" cy="4434840"/>
          </a:xfrm>
          <a:prstGeom prst="roundRect">
            <a:avLst>
              <a:gd name="adj" fmla="val 1237"/>
            </a:avLst>
          </a:prstGeom>
          <a:solidFill>
            <a:srgbClr val="13315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t5deck/imgs/cell47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737360"/>
            <a:ext cx="5669280" cy="1828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3657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" dirty="0">
                <a:solidFill>
                  <a:srgbClr val="9F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CURVES (early stopping, patience=8)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868680" y="4023360"/>
            <a:ext cx="5669280" cy="896112"/>
          </a:xfrm>
          <a:prstGeom prst="roundRect">
            <a:avLst>
              <a:gd name="adj" fmla="val 6122"/>
            </a:avLst>
          </a:prstGeom>
          <a:solidFill>
            <a:srgbClr val="154F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1051560" y="409651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SimpleRNN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051560" y="44348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stopped @ epoch 14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4343400" y="409651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9FD8C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MAE = 0.85°C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4343400" y="44805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1.08  •  MAPE 4.03%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868680" y="5047488"/>
            <a:ext cx="5669280" cy="896112"/>
          </a:xfrm>
          <a:prstGeom prst="roundRect">
            <a:avLst>
              <a:gd name="adj" fmla="val 6122"/>
            </a:avLst>
          </a:prstGeom>
          <a:solidFill>
            <a:srgbClr val="154F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1051560" y="51206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LSTM (2-layer + Dropout)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051560" y="54589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stopped @ epoch 10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4343400" y="51206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9FD8C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MAE = 1.31°C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4343400" y="55046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1.55  •  MAPE 6.30%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6995160" y="169164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9F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MEANS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6995160" y="2057400"/>
            <a:ext cx="365760" cy="365760"/>
          </a:xfrm>
          <a:prstGeom prst="ellipse">
            <a:avLst/>
          </a:prstGeom>
          <a:solidFill>
            <a:srgbClr val="13315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1" descr="/home/claude/work/icons/check-circle-mi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7456" y="2139696"/>
            <a:ext cx="201168" cy="201168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7498080" y="2057400"/>
            <a:ext cx="3977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MinMaxScaler fit on the training split only, then applied to test — avoids scaler leakage.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6995160" y="2953512"/>
            <a:ext cx="365760" cy="365760"/>
          </a:xfrm>
          <a:prstGeom prst="ellipse">
            <a:avLst/>
          </a:prstGeom>
          <a:solidFill>
            <a:srgbClr val="13315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3" name="Image 2" descr="/home/claude/work/icons/check-circle-mi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7456" y="3035808"/>
            <a:ext cx="201168" cy="201168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7498080" y="2953512"/>
            <a:ext cx="3977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Predictions inverse-transformed before computing MAE/RMSE — metrics report in °C, not [0,1].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6995160" y="3849624"/>
            <a:ext cx="365760" cy="365760"/>
          </a:xfrm>
          <a:prstGeom prst="ellipse">
            <a:avLst/>
          </a:prstGeom>
          <a:solidFill>
            <a:srgbClr val="13315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3" descr="/home/claude/work/icons/check-circle-mi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7456" y="3931920"/>
            <a:ext cx="201168" cy="201168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7498080" y="3849624"/>
            <a:ext cx="3977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SimpleRNN (0.85°C) outperforms LSTM (1.31°C): with only ~610 training windows, the larger two-layer LSTM+Dropout stack has more capacity than the data can support.</a:t>
            </a:r>
            <a:endParaRPr lang="en-US" sz="1050" dirty="0"/>
          </a:p>
        </p:txBody>
      </p:sp>
      <p:sp>
        <p:nvSpPr>
          <p:cNvPr id="28" name="Shape 22"/>
          <p:cNvSpPr/>
          <p:nvPr/>
        </p:nvSpPr>
        <p:spPr>
          <a:xfrm>
            <a:off x="6995160" y="4745736"/>
            <a:ext cx="365760" cy="365760"/>
          </a:xfrm>
          <a:prstGeom prst="ellipse">
            <a:avLst/>
          </a:prstGeom>
          <a:solidFill>
            <a:srgbClr val="13315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9" name="Image 4" descr="/home/claude/work/icons/check-circle-mi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7456" y="4828032"/>
            <a:ext cx="201168" cy="201168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7498080" y="4745736"/>
            <a:ext cx="3977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networks predict one step ahead from known past values — no recursive drift in this evaluation.</a:t>
            </a:r>
            <a:endParaRPr lang="en-US" sz="1050" dirty="0"/>
          </a:p>
        </p:txBody>
      </p:sp>
      <p:sp>
        <p:nvSpPr>
          <p:cNvPr id="31" name="Text 24"/>
          <p:cNvSpPr/>
          <p:nvPr/>
        </p:nvSpPr>
        <p:spPr>
          <a:xfrm>
            <a:off x="457200" y="652881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Damietta Weather Analytics  •  Task 5: Time-Series Forecasting</a:t>
            </a:r>
            <a:endParaRPr lang="en-US" sz="1000" dirty="0"/>
          </a:p>
        </p:txBody>
      </p:sp>
      <p:sp>
        <p:nvSpPr>
          <p:cNvPr id="32" name="Text 25"/>
          <p:cNvSpPr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9FD8C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81360" y="45720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EAF4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50292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Comparison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051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models scored on the same 90-day test window and metrics.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6492240" cy="2880360"/>
          </a:xfrm>
          <a:prstGeom prst="roundRect">
            <a:avLst>
              <a:gd name="adj" fmla="val 1905"/>
            </a:avLst>
          </a:prstGeom>
          <a:solidFill>
            <a:srgbClr val="EAF4F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t5deck/imgs/cell48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1554480"/>
            <a:ext cx="6272784" cy="26974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406640" y="1463040"/>
            <a:ext cx="4050792" cy="2880360"/>
          </a:xfrm>
          <a:prstGeom prst="roundRect">
            <a:avLst>
              <a:gd name="adj" fmla="val 1905"/>
            </a:avLst>
          </a:prstGeom>
          <a:solidFill>
            <a:srgbClr val="EAF4F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1" descr="/home/claude/t5deck/imgs/cell52_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6368" y="1627632"/>
            <a:ext cx="3831336" cy="256032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731520" y="4526280"/>
            <a:ext cx="10698480" cy="292608"/>
          </a:xfrm>
          <a:prstGeom prst="rect">
            <a:avLst/>
          </a:prstGeom>
          <a:solidFill>
            <a:srgbClr val="0B25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822960" y="4526280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9F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4754880" y="452628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9F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6217920" y="452628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9F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7680960" y="452628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9F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 (%)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9418320" y="452628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9F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731520" y="4818888"/>
            <a:ext cx="10698480" cy="265176"/>
          </a:xfrm>
          <a:prstGeom prst="rect">
            <a:avLst/>
          </a:prstGeom>
          <a:solidFill>
            <a:srgbClr val="EA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822960" y="4818888"/>
            <a:ext cx="37947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Persistence (naive)</a:t>
            </a:r>
            <a:endParaRPr lang="en-US" sz="850" dirty="0"/>
          </a:p>
        </p:txBody>
      </p:sp>
      <p:sp>
        <p:nvSpPr>
          <p:cNvPr id="17" name="Text 13"/>
          <p:cNvSpPr/>
          <p:nvPr/>
        </p:nvSpPr>
        <p:spPr>
          <a:xfrm>
            <a:off x="4754880" y="4818888"/>
            <a:ext cx="13258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45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0.62</a:t>
            </a:r>
            <a:endParaRPr lang="en-US" sz="850" dirty="0"/>
          </a:p>
        </p:txBody>
      </p:sp>
      <p:sp>
        <p:nvSpPr>
          <p:cNvPr id="18" name="Text 14"/>
          <p:cNvSpPr/>
          <p:nvPr/>
        </p:nvSpPr>
        <p:spPr>
          <a:xfrm>
            <a:off x="6217920" y="4818888"/>
            <a:ext cx="13258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45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0.76</a:t>
            </a:r>
            <a:endParaRPr lang="en-US" sz="850" dirty="0"/>
          </a:p>
        </p:txBody>
      </p:sp>
      <p:sp>
        <p:nvSpPr>
          <p:cNvPr id="19" name="Text 15"/>
          <p:cNvSpPr/>
          <p:nvPr/>
        </p:nvSpPr>
        <p:spPr>
          <a:xfrm>
            <a:off x="7680960" y="4818888"/>
            <a:ext cx="16002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45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2.89</a:t>
            </a:r>
            <a:endParaRPr lang="en-US" sz="850" dirty="0"/>
          </a:p>
        </p:txBody>
      </p:sp>
      <p:sp>
        <p:nvSpPr>
          <p:cNvPr id="20" name="Text 16"/>
          <p:cNvSpPr/>
          <p:nvPr/>
        </p:nvSpPr>
        <p:spPr>
          <a:xfrm>
            <a:off x="9418320" y="4818888"/>
            <a:ext cx="19659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Hardest baseline to beat</a:t>
            </a:r>
            <a:endParaRPr lang="en-US" sz="850" dirty="0"/>
          </a:p>
        </p:txBody>
      </p:sp>
      <p:sp>
        <p:nvSpPr>
          <p:cNvPr id="21" name="Shape 17"/>
          <p:cNvSpPr/>
          <p:nvPr/>
        </p:nvSpPr>
        <p:spPr>
          <a:xfrm>
            <a:off x="731520" y="5084064"/>
            <a:ext cx="10698480" cy="26517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/>
          <p:nvPr/>
        </p:nvSpPr>
        <p:spPr>
          <a:xfrm>
            <a:off x="822960" y="5084064"/>
            <a:ext cx="37947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Seasonal-naive (t-365)</a:t>
            </a:r>
            <a:endParaRPr lang="en-US" sz="850" dirty="0"/>
          </a:p>
        </p:txBody>
      </p:sp>
      <p:sp>
        <p:nvSpPr>
          <p:cNvPr id="23" name="Text 19"/>
          <p:cNvSpPr/>
          <p:nvPr/>
        </p:nvSpPr>
        <p:spPr>
          <a:xfrm>
            <a:off x="4754880" y="5084064"/>
            <a:ext cx="13258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45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1.44</a:t>
            </a:r>
            <a:endParaRPr lang="en-US" sz="850" dirty="0"/>
          </a:p>
        </p:txBody>
      </p:sp>
      <p:sp>
        <p:nvSpPr>
          <p:cNvPr id="24" name="Text 20"/>
          <p:cNvSpPr/>
          <p:nvPr/>
        </p:nvSpPr>
        <p:spPr>
          <a:xfrm>
            <a:off x="6217920" y="5084064"/>
            <a:ext cx="13258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45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1.76</a:t>
            </a:r>
            <a:endParaRPr lang="en-US" sz="850" dirty="0"/>
          </a:p>
        </p:txBody>
      </p:sp>
      <p:sp>
        <p:nvSpPr>
          <p:cNvPr id="25" name="Text 21"/>
          <p:cNvSpPr/>
          <p:nvPr/>
        </p:nvSpPr>
        <p:spPr>
          <a:xfrm>
            <a:off x="7680960" y="5084064"/>
            <a:ext cx="16002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45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6.60</a:t>
            </a:r>
            <a:endParaRPr lang="en-US" sz="850" dirty="0"/>
          </a:p>
        </p:txBody>
      </p:sp>
      <p:sp>
        <p:nvSpPr>
          <p:cNvPr id="26" name="Text 22"/>
          <p:cNvSpPr/>
          <p:nvPr/>
        </p:nvSpPr>
        <p:spPr>
          <a:xfrm>
            <a:off x="9418320" y="5084064"/>
            <a:ext cx="19659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27" name="Shape 23"/>
          <p:cNvSpPr/>
          <p:nvPr/>
        </p:nvSpPr>
        <p:spPr>
          <a:xfrm>
            <a:off x="731520" y="5349240"/>
            <a:ext cx="10698480" cy="265176"/>
          </a:xfrm>
          <a:prstGeom prst="rect">
            <a:avLst/>
          </a:prstGeom>
          <a:solidFill>
            <a:srgbClr val="EA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4"/>
          <p:cNvSpPr/>
          <p:nvPr/>
        </p:nvSpPr>
        <p:spPr>
          <a:xfrm>
            <a:off x="822960" y="5349240"/>
            <a:ext cx="37947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SARIMAX — static 90d</a:t>
            </a:r>
            <a:endParaRPr lang="en-US" sz="850" dirty="0"/>
          </a:p>
        </p:txBody>
      </p:sp>
      <p:sp>
        <p:nvSpPr>
          <p:cNvPr id="29" name="Text 25"/>
          <p:cNvSpPr/>
          <p:nvPr/>
        </p:nvSpPr>
        <p:spPr>
          <a:xfrm>
            <a:off x="4754880" y="5349240"/>
            <a:ext cx="13258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45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1.24</a:t>
            </a:r>
            <a:endParaRPr lang="en-US" sz="850" dirty="0"/>
          </a:p>
        </p:txBody>
      </p:sp>
      <p:sp>
        <p:nvSpPr>
          <p:cNvPr id="30" name="Text 26"/>
          <p:cNvSpPr/>
          <p:nvPr/>
        </p:nvSpPr>
        <p:spPr>
          <a:xfrm>
            <a:off x="6217920" y="5349240"/>
            <a:ext cx="13258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45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1.56</a:t>
            </a:r>
            <a:endParaRPr lang="en-US" sz="850" dirty="0"/>
          </a:p>
        </p:txBody>
      </p:sp>
      <p:sp>
        <p:nvSpPr>
          <p:cNvPr id="31" name="Text 27"/>
          <p:cNvSpPr/>
          <p:nvPr/>
        </p:nvSpPr>
        <p:spPr>
          <a:xfrm>
            <a:off x="7680960" y="5349240"/>
            <a:ext cx="16002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45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5.53</a:t>
            </a:r>
            <a:endParaRPr lang="en-US" sz="850" dirty="0"/>
          </a:p>
        </p:txBody>
      </p:sp>
      <p:sp>
        <p:nvSpPr>
          <p:cNvPr id="32" name="Text 28"/>
          <p:cNvSpPr/>
          <p:nvPr/>
        </p:nvSpPr>
        <p:spPr>
          <a:xfrm>
            <a:off x="9418320" y="5349240"/>
            <a:ext cx="19659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Weakest at this horizon</a:t>
            </a:r>
            <a:endParaRPr lang="en-US" sz="850" dirty="0"/>
          </a:p>
        </p:txBody>
      </p:sp>
      <p:sp>
        <p:nvSpPr>
          <p:cNvPr id="33" name="Shape 29"/>
          <p:cNvSpPr/>
          <p:nvPr/>
        </p:nvSpPr>
        <p:spPr>
          <a:xfrm>
            <a:off x="731520" y="5614416"/>
            <a:ext cx="10698480" cy="26517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0"/>
          <p:cNvSpPr/>
          <p:nvPr/>
        </p:nvSpPr>
        <p:spPr>
          <a:xfrm>
            <a:off x="822960" y="5614416"/>
            <a:ext cx="37947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SARIMAX — walk-forward 14d</a:t>
            </a:r>
            <a:endParaRPr lang="en-US" sz="850" dirty="0"/>
          </a:p>
        </p:txBody>
      </p:sp>
      <p:sp>
        <p:nvSpPr>
          <p:cNvPr id="35" name="Text 31"/>
          <p:cNvSpPr/>
          <p:nvPr/>
        </p:nvSpPr>
        <p:spPr>
          <a:xfrm>
            <a:off x="4754880" y="5614416"/>
            <a:ext cx="13258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45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0.89</a:t>
            </a:r>
            <a:endParaRPr lang="en-US" sz="850" dirty="0"/>
          </a:p>
        </p:txBody>
      </p:sp>
      <p:sp>
        <p:nvSpPr>
          <p:cNvPr id="36" name="Text 32"/>
          <p:cNvSpPr/>
          <p:nvPr/>
        </p:nvSpPr>
        <p:spPr>
          <a:xfrm>
            <a:off x="6217920" y="5614416"/>
            <a:ext cx="13258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45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850" dirty="0"/>
          </a:p>
        </p:txBody>
      </p:sp>
      <p:sp>
        <p:nvSpPr>
          <p:cNvPr id="37" name="Text 33"/>
          <p:cNvSpPr/>
          <p:nvPr/>
        </p:nvSpPr>
        <p:spPr>
          <a:xfrm>
            <a:off x="7680960" y="5614416"/>
            <a:ext cx="16002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45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850" dirty="0"/>
          </a:p>
        </p:txBody>
      </p:sp>
      <p:sp>
        <p:nvSpPr>
          <p:cNvPr id="38" name="Text 34"/>
          <p:cNvSpPr/>
          <p:nvPr/>
        </p:nvSpPr>
        <p:spPr>
          <a:xfrm>
            <a:off x="9418320" y="5614416"/>
            <a:ext cx="19659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Much stronger short-horizon</a:t>
            </a:r>
            <a:endParaRPr lang="en-US" sz="850" dirty="0"/>
          </a:p>
        </p:txBody>
      </p:sp>
      <p:sp>
        <p:nvSpPr>
          <p:cNvPr id="39" name="Shape 35"/>
          <p:cNvSpPr/>
          <p:nvPr/>
        </p:nvSpPr>
        <p:spPr>
          <a:xfrm>
            <a:off x="731520" y="5879592"/>
            <a:ext cx="10698480" cy="265176"/>
          </a:xfrm>
          <a:prstGeom prst="rect">
            <a:avLst/>
          </a:prstGeom>
          <a:solidFill>
            <a:srgbClr val="EA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6"/>
          <p:cNvSpPr/>
          <p:nvPr/>
        </p:nvSpPr>
        <p:spPr>
          <a:xfrm>
            <a:off x="822960" y="5879592"/>
            <a:ext cx="37947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SimpleRNN</a:t>
            </a:r>
            <a:endParaRPr lang="en-US" sz="850" dirty="0"/>
          </a:p>
        </p:txBody>
      </p:sp>
      <p:sp>
        <p:nvSpPr>
          <p:cNvPr id="41" name="Text 37"/>
          <p:cNvSpPr/>
          <p:nvPr/>
        </p:nvSpPr>
        <p:spPr>
          <a:xfrm>
            <a:off x="4754880" y="5879592"/>
            <a:ext cx="13258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45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0.85</a:t>
            </a:r>
            <a:endParaRPr lang="en-US" sz="850" dirty="0"/>
          </a:p>
        </p:txBody>
      </p:sp>
      <p:sp>
        <p:nvSpPr>
          <p:cNvPr id="42" name="Text 38"/>
          <p:cNvSpPr/>
          <p:nvPr/>
        </p:nvSpPr>
        <p:spPr>
          <a:xfrm>
            <a:off x="6217920" y="5879592"/>
            <a:ext cx="13258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45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1.08</a:t>
            </a:r>
            <a:endParaRPr lang="en-US" sz="850" dirty="0"/>
          </a:p>
        </p:txBody>
      </p:sp>
      <p:sp>
        <p:nvSpPr>
          <p:cNvPr id="43" name="Text 39"/>
          <p:cNvSpPr/>
          <p:nvPr/>
        </p:nvSpPr>
        <p:spPr>
          <a:xfrm>
            <a:off x="7680960" y="5879592"/>
            <a:ext cx="16002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45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4.03</a:t>
            </a:r>
            <a:endParaRPr lang="en-US" sz="850" dirty="0"/>
          </a:p>
        </p:txBody>
      </p:sp>
      <p:sp>
        <p:nvSpPr>
          <p:cNvPr id="44" name="Text 40"/>
          <p:cNvSpPr/>
          <p:nvPr/>
        </p:nvSpPr>
        <p:spPr>
          <a:xfrm>
            <a:off x="9418320" y="5879592"/>
            <a:ext cx="19659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learned model</a:t>
            </a:r>
            <a:endParaRPr lang="en-US" sz="850" dirty="0"/>
          </a:p>
        </p:txBody>
      </p:sp>
      <p:sp>
        <p:nvSpPr>
          <p:cNvPr id="45" name="Shape 41"/>
          <p:cNvSpPr/>
          <p:nvPr/>
        </p:nvSpPr>
        <p:spPr>
          <a:xfrm>
            <a:off x="731520" y="6144768"/>
            <a:ext cx="10698480" cy="26517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2"/>
          <p:cNvSpPr/>
          <p:nvPr/>
        </p:nvSpPr>
        <p:spPr>
          <a:xfrm>
            <a:off x="822960" y="6144768"/>
            <a:ext cx="37947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LSTM</a:t>
            </a:r>
            <a:endParaRPr lang="en-US" sz="850" dirty="0"/>
          </a:p>
        </p:txBody>
      </p:sp>
      <p:sp>
        <p:nvSpPr>
          <p:cNvPr id="47" name="Text 43"/>
          <p:cNvSpPr/>
          <p:nvPr/>
        </p:nvSpPr>
        <p:spPr>
          <a:xfrm>
            <a:off x="4754880" y="6144768"/>
            <a:ext cx="13258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45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1.31</a:t>
            </a:r>
            <a:endParaRPr lang="en-US" sz="850" dirty="0"/>
          </a:p>
        </p:txBody>
      </p:sp>
      <p:sp>
        <p:nvSpPr>
          <p:cNvPr id="48" name="Text 44"/>
          <p:cNvSpPr/>
          <p:nvPr/>
        </p:nvSpPr>
        <p:spPr>
          <a:xfrm>
            <a:off x="6217920" y="6144768"/>
            <a:ext cx="13258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45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1.55</a:t>
            </a:r>
            <a:endParaRPr lang="en-US" sz="850" dirty="0"/>
          </a:p>
        </p:txBody>
      </p:sp>
      <p:sp>
        <p:nvSpPr>
          <p:cNvPr id="49" name="Text 45"/>
          <p:cNvSpPr/>
          <p:nvPr/>
        </p:nvSpPr>
        <p:spPr>
          <a:xfrm>
            <a:off x="7680960" y="6144768"/>
            <a:ext cx="16002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45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6.30</a:t>
            </a:r>
            <a:endParaRPr lang="en-US" sz="850" dirty="0"/>
          </a:p>
        </p:txBody>
      </p:sp>
      <p:sp>
        <p:nvSpPr>
          <p:cNvPr id="50" name="Text 46"/>
          <p:cNvSpPr/>
          <p:nvPr/>
        </p:nvSpPr>
        <p:spPr>
          <a:xfrm>
            <a:off x="9418320" y="6144768"/>
            <a:ext cx="19659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Underfit — limited data</a:t>
            </a:r>
            <a:endParaRPr lang="en-US" sz="850" dirty="0"/>
          </a:p>
        </p:txBody>
      </p:sp>
      <p:sp>
        <p:nvSpPr>
          <p:cNvPr id="51" name="Text 47"/>
          <p:cNvSpPr/>
          <p:nvPr/>
        </p:nvSpPr>
        <p:spPr>
          <a:xfrm>
            <a:off x="457200" y="652881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Damietta Weather Analytics  •  Task 5: Time-Series Forecasting</a:t>
            </a:r>
            <a:endParaRPr lang="en-US" sz="1000" dirty="0"/>
          </a:p>
        </p:txBody>
      </p:sp>
      <p:sp>
        <p:nvSpPr>
          <p:cNvPr id="52" name="Text 48"/>
          <p:cNvSpPr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206240"/>
            <a:ext cx="3840480" cy="3840480"/>
          </a:xfrm>
          <a:prstGeom prst="ellipse">
            <a:avLst/>
          </a:prstGeom>
          <a:solidFill>
            <a:srgbClr val="1331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9F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1024128"/>
            <a:ext cx="8686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5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model wins outright —</a:t>
            </a:r>
            <a:endParaRPr lang="en-US" sz="3000" dirty="0"/>
          </a:p>
          <a:p>
            <a:pPr marL="0" indent="0">
              <a:lnSpc>
                <a:spcPts val="35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depends on the horizon.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31520" y="2514600"/>
            <a:ext cx="384048" cy="384048"/>
          </a:xfrm>
          <a:prstGeom prst="ellipse">
            <a:avLst/>
          </a:prstGeom>
          <a:solidFill>
            <a:srgbClr val="13315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work/icons/trending-up-mi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931" y="2601011"/>
            <a:ext cx="211226" cy="21122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2514600"/>
            <a:ext cx="9052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90-day-ahead: persistence (0.62°C) beats every model built here, including SARIMAX (1.24°C) and LSTM (1.31°C).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731520" y="3136392"/>
            <a:ext cx="384048" cy="384048"/>
          </a:xfrm>
          <a:prstGeom prst="ellipse">
            <a:avLst/>
          </a:prstGeom>
          <a:solidFill>
            <a:srgbClr val="13315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1" descr="/home/claude/work/icons/calendar-mi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931" y="3222803"/>
            <a:ext cx="211226" cy="21122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80160" y="3136392"/>
            <a:ext cx="9052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Realistic 14-day walk-forward: SARIMAX drops to 0.89°C — the earlier gap was mostly a horizon artifact, not an unfit model.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731520" y="3758184"/>
            <a:ext cx="384048" cy="384048"/>
          </a:xfrm>
          <a:prstGeom prst="ellipse">
            <a:avLst/>
          </a:prstGeom>
          <a:solidFill>
            <a:srgbClr val="13315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2" descr="/home/claude/work/icons/activity-mi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7931" y="3844595"/>
            <a:ext cx="211226" cy="21122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80160" y="3758184"/>
            <a:ext cx="9052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SimpleRNN (0.85°C) was the best-performing learned model; the larger LSTM (1.31°C) underfit with only ~610 training windows.</a:t>
            </a:r>
            <a:endParaRPr lang="en-US" sz="1150" dirty="0"/>
          </a:p>
        </p:txBody>
      </p:sp>
      <p:sp>
        <p:nvSpPr>
          <p:cNvPr id="14" name="Shape 9"/>
          <p:cNvSpPr/>
          <p:nvPr/>
        </p:nvSpPr>
        <p:spPr>
          <a:xfrm>
            <a:off x="731520" y="4379976"/>
            <a:ext cx="384048" cy="384048"/>
          </a:xfrm>
          <a:prstGeom prst="ellipse">
            <a:avLst/>
          </a:prstGeom>
          <a:solidFill>
            <a:srgbClr val="13315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3" descr="/home/claude/work/icons/check-circle-min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7931" y="4466387"/>
            <a:ext cx="211226" cy="211226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280160" y="4379976"/>
            <a:ext cx="9052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takeaway: SARIMAX’s real strength is a full 90-day seasonal trajectory with calibrated confidence intervals — something no naive or neural baseline provides out of the box.</a:t>
            </a:r>
            <a:endParaRPr lang="en-US" sz="1150" dirty="0"/>
          </a:p>
        </p:txBody>
      </p:sp>
      <p:sp>
        <p:nvSpPr>
          <p:cNvPr id="17" name="Shape 11"/>
          <p:cNvSpPr/>
          <p:nvPr/>
        </p:nvSpPr>
        <p:spPr>
          <a:xfrm>
            <a:off x="731520" y="5166360"/>
            <a:ext cx="9966960" cy="0"/>
          </a:xfrm>
          <a:prstGeom prst="line">
            <a:avLst/>
          </a:prstGeom>
          <a:noFill/>
          <a:ln w="12700">
            <a:solidFill>
              <a:srgbClr val="1331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2"/>
          <p:cNvSpPr/>
          <p:nvPr/>
        </p:nvSpPr>
        <p:spPr>
          <a:xfrm>
            <a:off x="731520" y="5303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9F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 CHECKLIST</a:t>
            </a:r>
            <a:endParaRPr lang="en-US" sz="1150" dirty="0"/>
          </a:p>
        </p:txBody>
      </p:sp>
      <p:sp>
        <p:nvSpPr>
          <p:cNvPr id="19" name="Text 13"/>
          <p:cNvSpPr/>
          <p:nvPr/>
        </p:nvSpPr>
        <p:spPr>
          <a:xfrm>
            <a:off x="731520" y="5577840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Cleaned, gap-free series with documented preprocessing   ✓ ADF + KPSS stationarity results, justified   ✓ ACF/PACF + auto_arima order   ✓ Residual diagnostics + Ljung-Box   ✓ Forecast with 95% CI   ✓ MAE/RMSE/MAPE + walk-forward scores   ✓ Bonus LSTM/RNN pipeline &amp; comparison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731520" y="63550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Damietta Weather Analytics &amp; Time-Series Forecasting  —  Cellula Technologies ML Internship Program, Task 5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11274552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9FD8C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1425</Words>
  <Application>Microsoft Office PowerPoint</Application>
  <PresentationFormat>Widescreen</PresentationFormat>
  <Paragraphs>212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Ahmed Elgharably</cp:lastModifiedBy>
  <cp:revision>2</cp:revision>
  <dcterms:created xsi:type="dcterms:W3CDTF">2026-08-09T13:31:14Z</dcterms:created>
  <dcterms:modified xsi:type="dcterms:W3CDTF">2026-08-09T16:53:33Z</dcterms:modified>
</cp:coreProperties>
</file>