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2.png"/><Relationship Id="rId4" Type="http://schemas.openxmlformats.org/officeDocument/2006/relationships/image" Target="../media/image-5-3.png"/><Relationship Id="rId5" Type="http://schemas.openxmlformats.org/officeDocument/2006/relationships/image" Target="../media/image-5-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2.png"/><Relationship Id="rId4" Type="http://schemas.openxmlformats.org/officeDocument/2006/relationships/image" Target="../media/image-6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2.png"/><Relationship Id="rId4" Type="http://schemas.openxmlformats.org/officeDocument/2006/relationships/image" Target="../media/image-9-3.png"/><Relationship Id="rId5" Type="http://schemas.openxmlformats.org/officeDocument/2006/relationships/image" Target="../media/image-9-4.png"/><Relationship Id="rId6" Type="http://schemas.openxmlformats.org/officeDocument/2006/relationships/image" Target="../media/image-9-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2.png"/><Relationship Id="rId4" Type="http://schemas.openxmlformats.org/officeDocument/2006/relationships/image" Target="../media/image-10-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0" name="Circle Deco 1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Circle Deco 2"/>
          <p:cNvSpPr/>
          <p:nvPr/>
        </p:nvSpPr>
        <p:spPr>
          <a:xfrm>
            <a:off x="-1645920" y="4572000"/>
            <a:ext cx="3657600" cy="3657600"/>
          </a:xfrm>
          <a:prstGeom prst="ellipse">
            <a:avLst/>
          </a:prstGeom>
          <a:solidFill>
            <a:srgbClr val="4FC3E8">
              <a:alpha val="22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Eyebrow"/>
          <p:cNvSpPr/>
          <p:nvPr/>
        </p:nvSpPr>
        <p:spPr>
          <a:xfrm>
            <a:off x="822960" y="17373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spc="300" dirty="0">
                <a:solidFill>
                  <a:srgbClr val="4FC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2103120"/>
            <a:ext cx="10058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 FORECAST API &amp;</a:t>
            </a:r>
            <a:endParaRPr lang="en-US" sz="40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TIME-SERIES EDA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time-series analysis of Cairo's climate using the NASA POWER API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22960" y="4251960"/>
            <a:ext cx="2011680" cy="0"/>
          </a:xfrm>
          <a:prstGeom prst="line">
            <a:avLst/>
          </a:prstGeom>
          <a:noFill/>
          <a:ln w="3175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5394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Omar ElDawy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7607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Internship — Cellula Technologies  |  Task 4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a public weather API, pull an extended time-series record for one region, and apply EDA techniques built specifically for sequential/temporal data.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492240" y="120700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6492240" y="12070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040880" y="11430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040880" y="148132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a multi-year daily record from a live weather API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92240" y="225856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6492240" y="225856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040880" y="21945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040880" y="253288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it as a clean, gap-free time series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92240" y="331012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33101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40880" y="324612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040880" y="358444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Trend, seasonality, decomposition, ACF/PACF, stationarity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92240" y="4361688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4361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040880" y="42976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40880" y="4636008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what the patterns mean for future modeling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 Technologies  •  Weather Forecast EDA — Task 4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1 — Data Collection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4F7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5361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Cairo, Egypt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31520" y="2514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30.04°N, 31.24°E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429000" y="137160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4F7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11880" y="15361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11880" y="18288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NASA POWER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11880" y="2514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key needed, strong historical coverage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09360" y="137160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4F7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15361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RANGE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92240" y="18288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years, daily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92240" y="2514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 2023 – Dec 2024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189720" y="1371600"/>
            <a:ext cx="2651760" cy="2011680"/>
          </a:xfrm>
          <a:prstGeom prst="roundRect">
            <a:avLst>
              <a:gd name="adj" fmla="val 3636"/>
            </a:avLst>
          </a:prstGeom>
          <a:solidFill>
            <a:srgbClr val="F4F7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72600" y="153619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372600" y="1828800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parameters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72600" y="251460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 (max/min/mean), Precipitation, Humidity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749040"/>
            <a:ext cx="11064240" cy="2286000"/>
          </a:xfrm>
          <a:prstGeom prst="roundRect">
            <a:avLst>
              <a:gd name="adj" fmla="val 3200"/>
            </a:avLst>
          </a:prstGeom>
          <a:solidFill>
            <a:srgbClr val="065A82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9319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NASA POWER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4343400"/>
            <a:ext cx="99669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5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registration or API key — fully reproducible with a single GET request
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5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Provides years of clean daily point data by coordinates
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E5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rate limits hit — one request covered the full 2-year range
</a:t>
            </a:r>
            <a:pPr indent="0" marL="0">
              <a:lnSpc>
                <a:spcPct val="130000"/>
              </a:lnSpc>
              <a:buNone/>
            </a:pPr>
            <a:r>
              <a:rPr lang="en-US" sz="1250" i="1" dirty="0">
                <a:solidFill>
                  <a:srgbClr val="9C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Endpoint: power.larc.nasa.gov/api/temporal/daily/point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 Technologies  •  Weather Forecast EDA — Task 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2 — Data Preparation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analysis, the series was checked for the structural issues that quietly break time-series models.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20240"/>
            <a:ext cx="2651760" cy="109728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Gaps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32461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daily sequence, no missing dates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429000" y="192024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920240"/>
            <a:ext cx="2651760" cy="109728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11880" y="24688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611880" y="32461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repeated timestamps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09360" y="192024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920240"/>
            <a:ext cx="2651760" cy="109728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24688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column fully populated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189720" y="1920240"/>
            <a:ext cx="265176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189720" y="1920240"/>
            <a:ext cx="2651760" cy="109728"/>
          </a:xfrm>
          <a:prstGeom prst="roundRect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9372600" y="21488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372600" y="246888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Confirmed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9372600" y="3246120"/>
            <a:ext cx="2286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°C, mm/day, % — pulled from API metadata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48640" y="4572000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since no gaps, duplicates, or missing values were found, no interpolation or fill strategy was required — the raw API data was already analysis-ready.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 Technologies  •  Weather Forecast EDA — Task 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3.1 — Descriptive Overview</a:t>
            </a:r>
            <a:endParaRPr lang="en-US" sz="3000" dirty="0"/>
          </a:p>
        </p:txBody>
      </p:sp>
      <p:pic>
        <p:nvPicPr>
          <p:cNvPr id="3" name="Image temp_mean" descr="Distribution of temp_me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3718634" cy="2805966"/>
          </a:xfrm>
          <a:prstGeom prst="rect">
            <a:avLst/>
          </a:prstGeom>
        </p:spPr>
      </p:pic>
      <p:pic>
        <p:nvPicPr>
          <p:cNvPr id="8" name="Image precipitation" descr="Distribution of precipita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9957" y="1234440"/>
            <a:ext cx="3577366" cy="2805966"/>
          </a:xfrm>
          <a:prstGeom prst="rect">
            <a:avLst/>
          </a:prstGeom>
        </p:spPr>
      </p:pic>
      <p:pic>
        <p:nvPicPr>
          <p:cNvPr id="9" name="Image humidity" descr="Distribution of humidit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0006" y="1234440"/>
            <a:ext cx="3502873" cy="280596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4480560"/>
            <a:ext cx="11064240" cy="1737360"/>
          </a:xfrm>
          <a:prstGeom prst="roundRect">
            <a:avLst>
              <a:gd name="adj" fmla="val 4211"/>
            </a:avLst>
          </a:prstGeom>
          <a:solidFill>
            <a:srgbClr val="F4F7F9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466344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seasonal peaks (~15°C, ~30°C) — mild winter vs. hot summer.
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Precipitation: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near 0mm — expected for Cairo's desert climate.
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Humidity: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roughly normal distribution centered ~50%, no unusual skew.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 Technologies  •  Weather Forecast EDA — Task 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3.2 — Temperature &amp; Precipitation Over Time</a:t>
            </a:r>
            <a:endParaRPr lang="en-US" sz="3000" dirty="0"/>
          </a:p>
        </p:txBody>
      </p:sp>
      <p:pic>
        <p:nvPicPr>
          <p:cNvPr id="3" name="Image temperature over time" descr="Temperature Over Ti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98560" y="1188720"/>
            <a:ext cx="9364399" cy="1991897"/>
          </a:xfrm>
          <a:prstGeom prst="rect">
            <a:avLst/>
          </a:prstGeom>
        </p:spPr>
      </p:pic>
      <p:pic>
        <p:nvPicPr>
          <p:cNvPr id="8" name="Image precipitation over time" descr="Precipitation Over Tim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8560" y="3264981"/>
            <a:ext cx="9364399" cy="20476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follows a clean repeating seasonal wave. </a:t>
            </a:r>
            <a:pPr indent="0" marL="0">
              <a:lnSpc>
                <a:spcPct val="130000"/>
              </a:lnSpc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Precipitation stays near-zero almost year-round, with rain spikes clustered in winter.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 Technologies  •  Weather Forecast EDA — Task 4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3.2 — Trend &amp; Seasonality</a:t>
            </a:r>
            <a:endParaRPr lang="en-US" sz="3000" dirty="0"/>
          </a:p>
        </p:txBody>
      </p:sp>
      <p:pic>
        <p:nvPicPr>
          <p:cNvPr id="3" name="Image 0" descr="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88720"/>
            <a:ext cx="5577840" cy="1801368"/>
          </a:xfrm>
          <a:prstGeom prst="rect">
            <a:avLst/>
          </a:prstGeom>
        </p:spPr>
      </p:pic>
      <p:pic>
        <p:nvPicPr>
          <p:cNvPr id="4" name="Image 1" descr="boxpl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188720"/>
            <a:ext cx="5577840" cy="291693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57200" y="3063240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Rolling Mean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457200" y="3383280"/>
            <a:ext cx="5577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and 2024 follow nearly identical seasonal cycles — no long-term warming/cooling trend across the study period.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6172200" y="4251960"/>
            <a:ext cx="5577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Jun–Aug are hottest with low variability; Dec–Feb are coldest; spring/autumn transition months show wider spread.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 Technologies  •  Weather Forecast EDA — Task 4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3.2 — Temperature Volatility</a:t>
            </a:r>
            <a:endParaRPr lang="en-US" sz="3000" dirty="0"/>
          </a:p>
        </p:txBody>
      </p:sp>
      <p:pic>
        <p:nvPicPr>
          <p:cNvPr id="3" name="Image 0" descr="volat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234440"/>
            <a:ext cx="10881360" cy="315468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4572000"/>
            <a:ext cx="11064240" cy="1645920"/>
          </a:xfrm>
          <a:prstGeom prst="roundRect">
            <a:avLst>
              <a:gd name="adj" fmla="val 4444"/>
            </a:avLst>
          </a:prstGeom>
          <a:solidFill>
            <a:srgbClr val="F4F7F9"/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47548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volatility: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transition (Mar–Jun), reaching ~3.5–4°C — the shift into summer heat brings the least predictable temperatures.
</a:t>
            </a:r>
            <a:pPr indent="0" marL="0">
              <a:lnSpc>
                <a:spcPct val="1400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volatility: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summer (Aug–Sep), dropping to ~0.4–0.5°C — the most stable period of the year.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 Technologies  •  Weather Forecast EDA — Task 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3.3 — STL Decomposition</a:t>
            </a:r>
            <a:endParaRPr lang="en-US" sz="3000" dirty="0"/>
          </a:p>
        </p:txBody>
      </p:sp>
      <p:pic>
        <p:nvPicPr>
          <p:cNvPr id="3" name="Image observed" descr="Observe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43000"/>
            <a:ext cx="7500000" cy="1138814"/>
          </a:xfrm>
          <a:prstGeom prst="rect">
            <a:avLst/>
          </a:prstGeom>
        </p:spPr>
      </p:pic>
      <p:pic>
        <p:nvPicPr>
          <p:cNvPr id="8" name="Image trend" descr="Trend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2381814"/>
            <a:ext cx="7500000" cy="1054376"/>
          </a:xfrm>
          <a:prstGeom prst="rect">
            <a:avLst/>
          </a:prstGeom>
        </p:spPr>
      </p:pic>
      <p:pic>
        <p:nvPicPr>
          <p:cNvPr id="9" name="Image seasonal" descr="Seasona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" y="3536190"/>
            <a:ext cx="7500000" cy="1092896"/>
          </a:xfrm>
          <a:prstGeom prst="rect">
            <a:avLst/>
          </a:prstGeom>
        </p:spPr>
      </p:pic>
      <p:pic>
        <p:nvPicPr>
          <p:cNvPr id="10" name="Image residual" descr="Residual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4729086"/>
            <a:ext cx="7500000" cy="108860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1280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each layer shows: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8503920" y="1691640"/>
            <a:ext cx="310896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Trend: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essentially flat — no meaningful long-term shift.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Season: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dominates the series — the main driver of temperature.
</a:t>
            </a:r>
            <a:pPr indent="0" marL="0">
              <a:lnSpc>
                <a:spcPct val="135000"/>
              </a:lnSpc>
              <a:buNone/>
            </a:pPr>
            <a:r>
              <a:rPr lang="en-US" sz="1150" b="1" dirty="0">
                <a:solidFill>
                  <a:srgbClr val="F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Residual: </a:t>
            </a:r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near-zero, with one spike (~Jan 2024) suggesting a real short weather anomaly, not an error.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 Technologies  •  Weather Forecast EDA — Task 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3.3 — Autocorrelation &amp; Stationarity</a:t>
            </a:r>
            <a:endParaRPr lang="en-US" sz="3000" dirty="0"/>
          </a:p>
        </p:txBody>
      </p:sp>
      <p:pic>
        <p:nvPicPr>
          <p:cNvPr id="3" name="Image ACF" descr="ACF - Temperatu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88720"/>
            <a:ext cx="5547021" cy="3146963"/>
          </a:xfrm>
          <a:prstGeom prst="rect">
            <a:avLst/>
          </a:prstGeom>
        </p:spPr>
      </p:pic>
      <p:pic>
        <p:nvPicPr>
          <p:cNvPr id="8" name="Image PACF" descr="PACF - Temperatur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7566" y="1188720"/>
            <a:ext cx="5335313" cy="314696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457200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F4F7F9"/>
          </a:solidFill>
          <a:ln/>
        </p:spPr>
      </p:sp>
      <p:sp>
        <p:nvSpPr>
          <p:cNvPr id="5" name="Text 2"/>
          <p:cNvSpPr/>
          <p:nvPr/>
        </p:nvSpPr>
        <p:spPr>
          <a:xfrm>
            <a:off x="777240" y="47091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ACF &amp; PACF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777240" y="502920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ACF decays slowly, staying correlated even at 60-day lags — a seasonality signature. PACF drops sharply after lag 1, so dependency is mostly seasonal, not autoregressive.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217920" y="4572000"/>
            <a:ext cx="5394960" cy="1691640"/>
          </a:xfrm>
          <a:prstGeom prst="roundRect">
            <a:avLst>
              <a:gd name="adj" fmla="val 4324"/>
            </a:avLst>
          </a:prstGeom>
          <a:solidFill>
            <a:srgbClr val="065A82"/>
          </a:solidFill>
          <a:ln/>
        </p:spPr>
      </p:sp>
      <p:sp>
        <p:nvSpPr>
          <p:cNvPr id="8" name="Text 5"/>
          <p:cNvSpPr/>
          <p:nvPr/>
        </p:nvSpPr>
        <p:spPr>
          <a:xfrm>
            <a:off x="6446520" y="47091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ADF Stationarity Test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446520" y="5029200"/>
            <a:ext cx="49377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p-value = 0.62  →  Series is NOT stationary
</a:t>
            </a:r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E5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result: the mean temperature shifts predictably by season. Future models would need seasonal differencing or SARIMA rather than a plain model.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 Technologies  •  Weather Forecast EDA — Task 4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 3.4 — Correlation &amp; Anomalies</a:t>
            </a:r>
            <a:endParaRPr lang="en-US" sz="3000" dirty="0"/>
          </a:p>
        </p:txBody>
      </p:sp>
      <p:pic>
        <p:nvPicPr>
          <p:cNvPr id="3" name="Image 0" descr="cor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440"/>
            <a:ext cx="4206240" cy="34381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120640" y="1280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120640" y="1645920"/>
            <a:ext cx="6400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Temp ↔ Humidity: 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-0.76 — hotter days are drier (desert climate)
</a:t>
            </a:r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Temp ↔ Precipitation: 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-0.15 — weak, rain slightly more likely when cooler
</a:t>
            </a:r>
            <a:pPr indent="0" marL="0">
              <a:lnSpc>
                <a:spcPct val="140000"/>
              </a:lnSpc>
              <a:buNone/>
            </a:pPr>
            <a:r>
              <a:rPr lang="en-US" sz="12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Precipitation ↔ Humidity: </a:t>
            </a:r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0.23 — weak positive link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5120640" y="3200400"/>
            <a:ext cx="6492240" cy="1508760"/>
          </a:xfrm>
          <a:prstGeom prst="roundRect">
            <a:avLst>
              <a:gd name="adj" fmla="val 4848"/>
            </a:avLst>
          </a:prstGeom>
          <a:solidFill>
            <a:srgbClr val="F4F7F9"/>
          </a:solidFill>
          <a:ln/>
        </p:spPr>
      </p:sp>
      <p:sp>
        <p:nvSpPr>
          <p:cNvPr id="7" name="Text 4"/>
          <p:cNvSpPr/>
          <p:nvPr/>
        </p:nvSpPr>
        <p:spPr>
          <a:xfrm>
            <a:off x="5349240" y="3337560"/>
            <a:ext cx="6035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 Detection (rolling z-score)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349240" y="3639312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outliers flagged, all during seasonal transition periods (early spring, late autumn) — matching the high-volatility windows already identified. Real sudden swings, not errors.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120640" y="4846320"/>
            <a:ext cx="6492240" cy="1051560"/>
          </a:xfrm>
          <a:prstGeom prst="roundRect">
            <a:avLst>
              <a:gd name="adj" fmla="val 6957"/>
            </a:avLst>
          </a:prstGeom>
          <a:solidFill>
            <a:srgbClr val="065A82"/>
          </a:solidFill>
          <a:ln/>
        </p:spPr>
      </p:sp>
      <p:sp>
        <p:nvSpPr>
          <p:cNvPr id="10" name="Text 7"/>
          <p:cNvSpPr/>
          <p:nvPr/>
        </p:nvSpPr>
        <p:spPr>
          <a:xfrm>
            <a:off x="5349240" y="4983480"/>
            <a:ext cx="6035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values (negative rainfall, impossible temps): 0 found — confirms clean, reliable data.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Cellula Technologies  •  Weather Forecast EDA — Task 4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521440" y="6537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0" name="Circle Deco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C7293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2646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26187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E5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Cairo, 2 years of daily data via NASA POWER — no key, no rate limits, fully reproducible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40080" y="220370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03911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E5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Strong, repeating seasonal cycle in temperature; no long-term warming/cooling trend found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98094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81635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E5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confirmed non-stationary (ADF p = 0.62) — modeling needs to account for seasonality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40080" y="375818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59359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E5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dataset: no gaps, duplicates, missing values, or suspicious readings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4535424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370832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E5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outliers found, all tied to real seasonal transitions rather than data errors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5806440"/>
            <a:ext cx="10698480" cy="0"/>
          </a:xfrm>
          <a:prstGeom prst="line">
            <a:avLst/>
          </a:prstGeom>
          <a:noFill/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59893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CC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apply these findings toward a forecasting model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2026-07-27T20:19:11Z</dcterms:created>
  <dcterms:modified xsi:type="dcterms:W3CDTF">2026-07-27T20:19:11Z</dcterms:modified>
</cp:coreProperties>
</file>