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545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B2545"/>
                </a:solidFill>
                <a:latin typeface="Calibri"/>
              </a:rPr>
              <a:t>Average Monthly Temperature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Temperature (°C)</c:v>
                </c:pt>
              </c:strCache>
            </c:strRef>
          </c:tx>
          <c:spPr>
            <a:solidFill>
              <a:srgbClr val="1C7293"/>
            </a:solidFill>
            <a:ln w="38100" cap="flat">
              <a:solidFill>
                <a:srgbClr val="1C72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16.9</c:v>
                </c:pt>
                <c:pt idx="1">
                  <c:v>15.7</c:v>
                </c:pt>
                <c:pt idx="2">
                  <c:v>18</c:v>
                </c:pt>
                <c:pt idx="3">
                  <c:v>20</c:v>
                </c:pt>
                <c:pt idx="4">
                  <c:v>22.7</c:v>
                </c:pt>
                <c:pt idx="5">
                  <c:v>26.3</c:v>
                </c:pt>
                <c:pt idx="6">
                  <c:v>28.6</c:v>
                </c:pt>
                <c:pt idx="7">
                  <c:v>28.7</c:v>
                </c:pt>
                <c:pt idx="8">
                  <c:v>27.3</c:v>
                </c:pt>
                <c:pt idx="9">
                  <c:v>24.6</c:v>
                </c:pt>
                <c:pt idx="10">
                  <c:v>22.2</c:v>
                </c:pt>
                <c:pt idx="11">
                  <c:v>18.2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44546A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AF4F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B728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5B7280"/>
                    </a:solidFill>
                    <a:latin typeface="Arial"/>
                  </a:rPr>
                  <a:t>°C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545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B2545"/>
                </a:solidFill>
                <a:latin typeface="Calibri"/>
              </a:rPr>
              <a:t>Total Monthly Precipitation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Precipitation (mm)</c:v>
                </c:pt>
              </c:strCache>
            </c:strRef>
          </c:tx>
          <c:spPr>
            <a:solidFill>
              <a:srgbClr val="9FD8C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21.4</c:v>
                </c:pt>
                <c:pt idx="1">
                  <c:v>16.5</c:v>
                </c:pt>
                <c:pt idx="2">
                  <c:v>8.6</c:v>
                </c:pt>
                <c:pt idx="3">
                  <c:v>6.7</c:v>
                </c:pt>
                <c:pt idx="4">
                  <c:v>4.8</c:v>
                </c:pt>
                <c:pt idx="5">
                  <c:v>3</c:v>
                </c:pt>
                <c:pt idx="6">
                  <c:v>2.1</c:v>
                </c:pt>
                <c:pt idx="7">
                  <c:v>0</c:v>
                </c:pt>
                <c:pt idx="8">
                  <c:v>21.5</c:v>
                </c:pt>
                <c:pt idx="9">
                  <c:v>0.6</c:v>
                </c:pt>
                <c:pt idx="10">
                  <c:v>20.6</c:v>
                </c:pt>
                <c:pt idx="11">
                  <c:v>19.9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AF4F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B728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5B7280"/>
                    </a:solidFill>
                    <a:latin typeface="Arial"/>
                  </a:rPr>
                  <a:t>mm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4.png"/><Relationship Id="rId6" Type="http://schemas.openxmlformats.org/officeDocument/2006/relationships/image" Target="../media/image-3-4.png"/><Relationship Id="rId7" Type="http://schemas.openxmlformats.org/officeDocument/2006/relationships/image" Target="../media/image-3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731520"/>
            <a:ext cx="2377440" cy="237744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 TECHNOLOGIES   •   ML INTERNSHIP PROGRAM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Damietta Weather Analytics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239572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4 — Time-Series EDA &amp; Interactive Dashboard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731 daily weather observations (2024–2025) retrieved from the NASA POWER API — cleaned, decomposed, tested for stationarity, and packaged into a 20-chart interactive dashboard.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4160520"/>
            <a:ext cx="457200" cy="45720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10" name="Image 0" descr="icons/calendar-m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" y="4263390"/>
            <a:ext cx="251460" cy="2514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98448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731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298448" y="4434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observations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520440" y="4160520"/>
            <a:ext cx="457200" cy="45720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14" name="Image 1" descr="icons/map-pin-m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3310" y="4263390"/>
            <a:ext cx="251460" cy="2514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087368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31.42°N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087368" y="4434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Damietta, Egypt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309360" y="4160520"/>
            <a:ext cx="457200" cy="45720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18" name="Image 2" descr="icons/check-circle-m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2230" y="4263390"/>
            <a:ext cx="251460" cy="2514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76288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6876288" y="4434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completeness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731520" y="58064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Ahmed Elghrably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731520" y="61081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ML Engineering Student, Damietta University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8138160" y="58064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NASA POWER API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8138160" y="61081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2024 – Dec 2025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81360" y="4572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AF4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&amp; Deliverables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TASK?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1–3 explored and modeled trip data end-to-end. Task 4 shifts to a new domain — connect to a live weather API, structure a proper daily time series, and apply the full time-series toolkit: rolling trends, seasonal decomposition, stationarity testing, and anomaly detection.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3520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3886200"/>
            <a:ext cx="2011680" cy="2148840"/>
          </a:xfrm>
          <a:prstGeom prst="roundRect">
            <a:avLst>
              <a:gd name="adj" fmla="val 3636"/>
            </a:avLst>
          </a:prstGeom>
          <a:solidFill>
            <a:srgbClr val="EAF4F4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4069080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icons/database-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867" y="4167835"/>
            <a:ext cx="241402" cy="24140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359152" y="3931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FD8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8680" y="461772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Acquire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68680" y="5074920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POWER API pull, JSON → DataFrame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871216" y="3886200"/>
            <a:ext cx="2011680" cy="2148840"/>
          </a:xfrm>
          <a:prstGeom prst="roundRect">
            <a:avLst>
              <a:gd name="adj" fmla="val 3636"/>
            </a:avLst>
          </a:prstGeom>
          <a:solidFill>
            <a:srgbClr val="EAF4F4"/>
          </a:solidFill>
          <a:ln/>
        </p:spPr>
      </p:sp>
      <p:sp>
        <p:nvSpPr>
          <p:cNvPr id="14" name="Shape 11"/>
          <p:cNvSpPr/>
          <p:nvPr/>
        </p:nvSpPr>
        <p:spPr>
          <a:xfrm>
            <a:off x="3035808" y="4069080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1" descr="icons/check-circle-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4563" y="4167835"/>
            <a:ext cx="241402" cy="24140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498848" y="3931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FD8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008376" y="461772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&amp; Clean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3008376" y="5074920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 index, gap / duplicate checks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5010912" y="3886200"/>
            <a:ext cx="2011680" cy="2148840"/>
          </a:xfrm>
          <a:prstGeom prst="roundRect">
            <a:avLst>
              <a:gd name="adj" fmla="val 3636"/>
            </a:avLst>
          </a:prstGeom>
          <a:solidFill>
            <a:srgbClr val="EAF4F4"/>
          </a:solidFill>
          <a:ln/>
        </p:spPr>
      </p:sp>
      <p:sp>
        <p:nvSpPr>
          <p:cNvPr id="20" name="Shape 16"/>
          <p:cNvSpPr/>
          <p:nvPr/>
        </p:nvSpPr>
        <p:spPr>
          <a:xfrm>
            <a:off x="5175504" y="4069080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2" descr="icons/layers-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4259" y="4167835"/>
            <a:ext cx="241402" cy="24140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638544" y="3931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FD8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5148072" y="461772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Decompose &amp; Test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5148072" y="5074920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/ seasonal / residual, ADF test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7150608" y="3886200"/>
            <a:ext cx="2011680" cy="2148840"/>
          </a:xfrm>
          <a:prstGeom prst="roundRect">
            <a:avLst>
              <a:gd name="adj" fmla="val 3636"/>
            </a:avLst>
          </a:prstGeom>
          <a:solidFill>
            <a:srgbClr val="EAF4F4"/>
          </a:solidFill>
          <a:ln/>
        </p:spPr>
      </p:sp>
      <p:sp>
        <p:nvSpPr>
          <p:cNvPr id="26" name="Shape 21"/>
          <p:cNvSpPr/>
          <p:nvPr/>
        </p:nvSpPr>
        <p:spPr>
          <a:xfrm>
            <a:off x="7315200" y="4069080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3" descr="icons/link-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3955" y="4167835"/>
            <a:ext cx="241402" cy="24140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778240" y="3931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FD8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7287768" y="461772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Correlate &amp; Detect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7287768" y="5074920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matrix, rolling Z-score outliers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9290304" y="3886200"/>
            <a:ext cx="2011680" cy="2148840"/>
          </a:xfrm>
          <a:prstGeom prst="roundRect">
            <a:avLst>
              <a:gd name="adj" fmla="val 3636"/>
            </a:avLst>
          </a:prstGeom>
          <a:solidFill>
            <a:srgbClr val="EAF4F4"/>
          </a:solidFill>
          <a:ln/>
        </p:spPr>
      </p:sp>
      <p:sp>
        <p:nvSpPr>
          <p:cNvPr id="32" name="Shape 26"/>
          <p:cNvSpPr/>
          <p:nvPr/>
        </p:nvSpPr>
        <p:spPr>
          <a:xfrm>
            <a:off x="9454896" y="4069080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4" descr="icons/monitor-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3651" y="4167835"/>
            <a:ext cx="241402" cy="24140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0917936" y="3931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FD8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9427464" y="461772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Visualize</a:t>
            </a:r>
            <a:endParaRPr lang="en-US" sz="1250" dirty="0"/>
          </a:p>
        </p:txBody>
      </p:sp>
      <p:sp>
        <p:nvSpPr>
          <p:cNvPr id="36" name="Text 29"/>
          <p:cNvSpPr/>
          <p:nvPr/>
        </p:nvSpPr>
        <p:spPr>
          <a:xfrm>
            <a:off x="9427464" y="5074920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20-chart interactive Plotly dashboard</a:t>
            </a:r>
            <a:endParaRPr lang="en-US" sz="950" dirty="0"/>
          </a:p>
        </p:txBody>
      </p:sp>
      <p:sp>
        <p:nvSpPr>
          <p:cNvPr id="37" name="Shape 30"/>
          <p:cNvSpPr/>
          <p:nvPr/>
        </p:nvSpPr>
        <p:spPr>
          <a:xfrm>
            <a:off x="5989320" y="1371600"/>
            <a:ext cx="5468112" cy="2011680"/>
          </a:xfrm>
          <a:prstGeom prst="roundRect">
            <a:avLst>
              <a:gd name="adj" fmla="val 3636"/>
            </a:avLst>
          </a:prstGeom>
          <a:solidFill>
            <a:srgbClr val="0B2545"/>
          </a:solidFill>
          <a:ln/>
        </p:spPr>
      </p:sp>
      <p:sp>
        <p:nvSpPr>
          <p:cNvPr id="38" name="Text 31"/>
          <p:cNvSpPr/>
          <p:nvPr/>
        </p:nvSpPr>
        <p:spPr>
          <a:xfrm>
            <a:off x="6309360" y="15361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WE’LL DELIVER</a:t>
            </a:r>
            <a:endParaRPr lang="en-US" sz="1300" dirty="0"/>
          </a:p>
        </p:txBody>
      </p:sp>
      <p:sp>
        <p:nvSpPr>
          <p:cNvPr id="39" name="Text 32"/>
          <p:cNvSpPr/>
          <p:nvPr/>
        </p:nvSpPr>
        <p:spPr>
          <a:xfrm>
            <a:off x="6309360" y="1920240"/>
            <a:ext cx="292608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40" name="Text 33"/>
          <p:cNvSpPr/>
          <p:nvPr/>
        </p:nvSpPr>
        <p:spPr>
          <a:xfrm>
            <a:off x="6720840" y="190195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cleaned, gap-free daily time series (731 rows, 9 columns)</a:t>
            </a:r>
            <a:endParaRPr lang="en-US" sz="1150" dirty="0"/>
          </a:p>
        </p:txBody>
      </p:sp>
      <p:sp>
        <p:nvSpPr>
          <p:cNvPr id="41" name="Text 34"/>
          <p:cNvSpPr/>
          <p:nvPr/>
        </p:nvSpPr>
        <p:spPr>
          <a:xfrm>
            <a:off x="6309360" y="2304288"/>
            <a:ext cx="292608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42" name="Text 35"/>
          <p:cNvSpPr/>
          <p:nvPr/>
        </p:nvSpPr>
        <p:spPr>
          <a:xfrm>
            <a:off x="6720840" y="22860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decomposition + ADF stationarity test with written interpretation</a:t>
            </a:r>
            <a:endParaRPr lang="en-US" sz="1150" dirty="0"/>
          </a:p>
        </p:txBody>
      </p:sp>
      <p:sp>
        <p:nvSpPr>
          <p:cNvPr id="43" name="Text 36"/>
          <p:cNvSpPr/>
          <p:nvPr/>
        </p:nvSpPr>
        <p:spPr>
          <a:xfrm>
            <a:off x="6309360" y="2688336"/>
            <a:ext cx="292608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44" name="Text 37"/>
          <p:cNvSpPr/>
          <p:nvPr/>
        </p:nvSpPr>
        <p:spPr>
          <a:xfrm>
            <a:off x="6720840" y="267004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correlation &amp; anomaly analysis across 4 core weather variables</a:t>
            </a:r>
            <a:endParaRPr lang="en-US" sz="1150" dirty="0"/>
          </a:p>
        </p:txBody>
      </p:sp>
      <p:sp>
        <p:nvSpPr>
          <p:cNvPr id="45" name="Text 38"/>
          <p:cNvSpPr/>
          <p:nvPr/>
        </p:nvSpPr>
        <p:spPr>
          <a:xfrm>
            <a:off x="6309360" y="3072384"/>
            <a:ext cx="292608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46" name="Text 39"/>
          <p:cNvSpPr/>
          <p:nvPr/>
        </p:nvSpPr>
        <p:spPr>
          <a:xfrm>
            <a:off x="6720840" y="305409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self-contained, 20-chart interactive Plotly dashboard (6 tabs)</a:t>
            </a:r>
            <a:endParaRPr lang="en-US" sz="1150" dirty="0"/>
          </a:p>
        </p:txBody>
      </p:sp>
      <p:sp>
        <p:nvSpPr>
          <p:cNvPr id="47" name="Text 40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Damietta Weather Analytics  •  Task 4: Time-Series EDA</a:t>
            </a:r>
            <a:endParaRPr lang="en-US" sz="1000" dirty="0"/>
          </a:p>
        </p:txBody>
      </p:sp>
      <p:sp>
        <p:nvSpPr>
          <p:cNvPr id="48" name="Text 41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81360" y="4572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AF4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Acquisition &amp; Quality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502920" cy="502920"/>
          </a:xfrm>
          <a:prstGeom prst="ellipse">
            <a:avLst/>
          </a:prstGeom>
          <a:solidFill>
            <a:srgbClr val="EAF4F4"/>
          </a:solidFill>
          <a:ln/>
        </p:spPr>
      </p:sp>
      <p:pic>
        <p:nvPicPr>
          <p:cNvPr id="6" name="Image 0" descr="icons/database-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77" y="189623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556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NASA POWER API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17320" y="207568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temporal/daily/point endpoint — no key or signup required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31520" y="2560320"/>
            <a:ext cx="502920" cy="502920"/>
          </a:xfrm>
          <a:prstGeom prst="ellipse">
            <a:avLst/>
          </a:prstGeom>
          <a:solidFill>
            <a:srgbClr val="EAF4F4"/>
          </a:solidFill>
          <a:ln/>
        </p:spPr>
      </p:sp>
      <p:pic>
        <p:nvPicPr>
          <p:cNvPr id="10" name="Image 1" descr="icons/map-pin-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677" y="2673477"/>
            <a:ext cx="276606" cy="27660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5328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Damietta, Egypt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417320" y="285292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31.4165°N, 31.8133°E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731520" y="3337560"/>
            <a:ext cx="502920" cy="502920"/>
          </a:xfrm>
          <a:prstGeom prst="ellipse">
            <a:avLst/>
          </a:prstGeom>
          <a:solidFill>
            <a:srgbClr val="EAF4F4"/>
          </a:solidFill>
          <a:ln/>
        </p:spPr>
      </p:sp>
      <p:pic>
        <p:nvPicPr>
          <p:cNvPr id="14" name="Image 2" descr="icons/calendar-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677" y="3450717"/>
            <a:ext cx="276606" cy="27660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33101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2024-01-01 → 2025-12-31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417320" y="363016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731 daily rows — two full years, required for a 365-period decomposition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731520" y="434340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code cell tries the live NASA POWER API and falls back automatically to a cached raw JSON snapshot if the network call fails — so results reproduce identically either way.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6172200" y="13716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CHECKS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172200" y="178308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EAF4F4"/>
          </a:solidFill>
          <a:ln/>
        </p:spPr>
      </p:sp>
      <p:sp>
        <p:nvSpPr>
          <p:cNvPr id="20" name="Shape 15"/>
          <p:cNvSpPr/>
          <p:nvPr/>
        </p:nvSpPr>
        <p:spPr>
          <a:xfrm>
            <a:off x="6355080" y="196596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icons/check-circle-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1890" y="2042770"/>
            <a:ext cx="230429" cy="23042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55080" y="24048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100" dirty="0"/>
          </a:p>
        </p:txBody>
      </p:sp>
      <p:sp>
        <p:nvSpPr>
          <p:cNvPr id="23" name="Text 17"/>
          <p:cNvSpPr/>
          <p:nvPr/>
        </p:nvSpPr>
        <p:spPr>
          <a:xfrm>
            <a:off x="6355080" y="27523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records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8915400" y="178308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EAF4F4"/>
          </a:solidFill>
          <a:ln/>
        </p:spPr>
      </p:sp>
      <p:sp>
        <p:nvSpPr>
          <p:cNvPr id="25" name="Shape 19"/>
          <p:cNvSpPr/>
          <p:nvPr/>
        </p:nvSpPr>
        <p:spPr>
          <a:xfrm>
            <a:off x="9098280" y="196596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icons/check-circle-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5090" y="2042770"/>
            <a:ext cx="230429" cy="23042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098280" y="24048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100" dirty="0"/>
          </a:p>
        </p:txBody>
      </p:sp>
      <p:sp>
        <p:nvSpPr>
          <p:cNvPr id="28" name="Text 21"/>
          <p:cNvSpPr/>
          <p:nvPr/>
        </p:nvSpPr>
        <p:spPr>
          <a:xfrm>
            <a:off x="9098280" y="27523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6172200" y="32004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EAF4F4"/>
          </a:solidFill>
          <a:ln/>
        </p:spPr>
      </p:sp>
      <p:sp>
        <p:nvSpPr>
          <p:cNvPr id="30" name="Shape 23"/>
          <p:cNvSpPr/>
          <p:nvPr/>
        </p:nvSpPr>
        <p:spPr>
          <a:xfrm>
            <a:off x="6355080" y="338328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icons/check-circle-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1890" y="3460090"/>
            <a:ext cx="230429" cy="23042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355080" y="38221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100" dirty="0"/>
          </a:p>
        </p:txBody>
      </p:sp>
      <p:sp>
        <p:nvSpPr>
          <p:cNvPr id="33" name="Text 25"/>
          <p:cNvSpPr/>
          <p:nvPr/>
        </p:nvSpPr>
        <p:spPr>
          <a:xfrm>
            <a:off x="6355080" y="416966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timestamps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8915400" y="32004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EAF4F4"/>
          </a:solidFill>
          <a:ln/>
        </p:spPr>
      </p:sp>
      <p:sp>
        <p:nvSpPr>
          <p:cNvPr id="35" name="Shape 27"/>
          <p:cNvSpPr/>
          <p:nvPr/>
        </p:nvSpPr>
        <p:spPr>
          <a:xfrm>
            <a:off x="9098280" y="338328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6" descr="icons/check-circle-te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75090" y="3460090"/>
            <a:ext cx="230429" cy="230429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9098280" y="38221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100" dirty="0"/>
          </a:p>
        </p:txBody>
      </p:sp>
      <p:sp>
        <p:nvSpPr>
          <p:cNvPr id="38" name="Text 29"/>
          <p:cNvSpPr/>
          <p:nvPr/>
        </p:nvSpPr>
        <p:spPr>
          <a:xfrm>
            <a:off x="9098280" y="416966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–999 sentinel gaps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6172200" y="470916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0B2545"/>
          </a:solidFill>
          <a:ln/>
        </p:spPr>
      </p:sp>
      <p:sp>
        <p:nvSpPr>
          <p:cNvPr id="40" name="Text 31"/>
          <p:cNvSpPr/>
          <p:nvPr/>
        </p:nvSpPr>
        <p:spPr>
          <a:xfrm>
            <a:off x="6400800" y="48463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freq='D' confirmed  •  units already SI (°C, mm/day, %, m/s)</a:t>
            </a:r>
            <a:endParaRPr lang="en-US" sz="1100" dirty="0"/>
          </a:p>
        </p:txBody>
      </p:sp>
      <p:sp>
        <p:nvSpPr>
          <p:cNvPr id="41" name="Text 32"/>
          <p:cNvSpPr/>
          <p:nvPr/>
        </p:nvSpPr>
        <p:spPr>
          <a:xfrm>
            <a:off x="6400800" y="5193792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date, temperature, temp_max, temp_min, precipitation, humidity, wind_speed, plus 7-/30-day rolling mean and rolling std. — 9 columns × 731 rows.</a:t>
            </a:r>
            <a:endParaRPr lang="en-US" sz="1000" dirty="0"/>
          </a:p>
        </p:txBody>
      </p:sp>
      <p:sp>
        <p:nvSpPr>
          <p:cNvPr id="42" name="Text 33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Damietta Weather Analytics  •  Task 4: Time-Series EDA</a:t>
            </a:r>
            <a:endParaRPr lang="en-US" sz="1000" dirty="0"/>
          </a:p>
        </p:txBody>
      </p:sp>
      <p:sp>
        <p:nvSpPr>
          <p:cNvPr id="43" name="Text 34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81360" y="4572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years of daily observations, distilled to four headline numbers.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13315C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965960"/>
            <a:ext cx="566928" cy="566928"/>
          </a:xfrm>
          <a:prstGeom prst="ellipse">
            <a:avLst/>
          </a:prstGeom>
          <a:solidFill>
            <a:srgbClr val="154F63"/>
          </a:solidFill>
          <a:ln/>
        </p:spPr>
      </p:sp>
      <p:pic>
        <p:nvPicPr>
          <p:cNvPr id="7" name="Image 0" descr="icons/thermometer-m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399" y="2093519"/>
            <a:ext cx="311810" cy="3118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189280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22.5°C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1783080" y="237744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mean temperature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005840" y="292608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Ranges from a 12.4°C winter low (23 Feb 2025) to a 30.8°C summer peak (11 Sep 2024) — a gentle coastal swing.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169164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13315C"/>
          </a:solidFill>
          <a:ln/>
        </p:spPr>
      </p:sp>
      <p:sp>
        <p:nvSpPr>
          <p:cNvPr id="12" name="Shape 9"/>
          <p:cNvSpPr/>
          <p:nvPr/>
        </p:nvSpPr>
        <p:spPr>
          <a:xfrm>
            <a:off x="6537960" y="1965960"/>
            <a:ext cx="566928" cy="566928"/>
          </a:xfrm>
          <a:prstGeom prst="ellipse">
            <a:avLst/>
          </a:prstGeom>
          <a:solidFill>
            <a:srgbClr val="154F63"/>
          </a:solidFill>
          <a:ln/>
        </p:spPr>
      </p:sp>
      <p:pic>
        <p:nvPicPr>
          <p:cNvPr id="13" name="Image 1" descr="icons/cloud-rain-m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519" y="2093519"/>
            <a:ext cx="311810" cy="31181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15200" y="189280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125.6 mm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7315200" y="237744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precipitation, 2024–25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6537960" y="292608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518 of 731 days (71%) were completely dry; 69% of all rainfall fell in the Nov–Mar window.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731520" y="406908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13315C"/>
          </a:solidFill>
          <a:ln/>
        </p:spPr>
      </p:sp>
      <p:sp>
        <p:nvSpPr>
          <p:cNvPr id="18" name="Shape 14"/>
          <p:cNvSpPr/>
          <p:nvPr/>
        </p:nvSpPr>
        <p:spPr>
          <a:xfrm>
            <a:off x="1005840" y="4343400"/>
            <a:ext cx="566928" cy="566928"/>
          </a:xfrm>
          <a:prstGeom prst="ellipse">
            <a:avLst/>
          </a:prstGeom>
          <a:solidFill>
            <a:srgbClr val="154F63"/>
          </a:solidFill>
          <a:ln/>
        </p:spPr>
      </p:sp>
      <p:pic>
        <p:nvPicPr>
          <p:cNvPr id="19" name="Image 2" descr="icons/link-m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399" y="4470959"/>
            <a:ext cx="311810" cy="31181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83080" y="427024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−0.09</a:t>
            </a:r>
            <a:endParaRPr lang="en-US" sz="2600" dirty="0"/>
          </a:p>
        </p:txBody>
      </p:sp>
      <p:sp>
        <p:nvSpPr>
          <p:cNvPr id="21" name="Text 16"/>
          <p:cNvSpPr/>
          <p:nvPr/>
        </p:nvSpPr>
        <p:spPr>
          <a:xfrm>
            <a:off x="1783080" y="475488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↔ humidity correlation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1005840" y="530352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r = −0.13 vs. wind speed — sea proximity keeps humidity high year-round, decoupled from temperature.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263640" y="406908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13315C"/>
          </a:solidFill>
          <a:ln/>
        </p:spPr>
      </p:sp>
      <p:sp>
        <p:nvSpPr>
          <p:cNvPr id="24" name="Shape 19"/>
          <p:cNvSpPr/>
          <p:nvPr/>
        </p:nvSpPr>
        <p:spPr>
          <a:xfrm>
            <a:off x="6537960" y="4343400"/>
            <a:ext cx="566928" cy="566928"/>
          </a:xfrm>
          <a:prstGeom prst="ellipse">
            <a:avLst/>
          </a:prstGeom>
          <a:solidFill>
            <a:srgbClr val="154F63"/>
          </a:solidFill>
          <a:ln/>
        </p:spPr>
      </p:sp>
      <p:pic>
        <p:nvPicPr>
          <p:cNvPr id="25" name="Image 3" descr="icons/activity-mi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519" y="4470959"/>
            <a:ext cx="311810" cy="31181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15200" y="427024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0.572</a:t>
            </a:r>
            <a:endParaRPr lang="en-US" sz="2600" dirty="0"/>
          </a:p>
        </p:txBody>
      </p:sp>
      <p:sp>
        <p:nvSpPr>
          <p:cNvPr id="27" name="Text 21"/>
          <p:cNvSpPr/>
          <p:nvPr/>
        </p:nvSpPr>
        <p:spPr>
          <a:xfrm>
            <a:off x="7315200" y="475488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stationarity test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6537960" y="530352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to reject the unit-root null (statistic −1.42) — the series is non-stationary, dominated by its annual cycle.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Damietta Weather Analytics  •  Task 4: Time-Series EDA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FD8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81360" y="4572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AF4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 Trends &amp; Seasonality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averages across 2024–2025 — a wet-winter, dry-summer coastal profile.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600200"/>
          <a:ext cx="539496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172200" y="1600200"/>
          <a:ext cx="539496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731520" y="59436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adds 7-/30-day rolling means, daily max/min trends, and a day-of-year calendar heatmap.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Damietta Weather Analytics  •  Task 4: Time-Series EDA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81360" y="4572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AF4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Decomposition &amp; Stationarity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DECOMPOSITION (PERIOD = 365)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02920" cy="502920"/>
          </a:xfrm>
          <a:prstGeom prst="ellipse">
            <a:avLst/>
          </a:prstGeom>
          <a:solidFill>
            <a:srgbClr val="EAF4F4"/>
          </a:solidFill>
          <a:ln/>
        </p:spPr>
      </p:sp>
      <p:pic>
        <p:nvPicPr>
          <p:cNvPr id="6" name="Image 0" descr="icons/trending-up-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77" y="194195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105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417320" y="21031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Long-run temperature trajectory across the two-year record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31520" y="2743200"/>
            <a:ext cx="502920" cy="502920"/>
          </a:xfrm>
          <a:prstGeom prst="ellipse">
            <a:avLst/>
          </a:prstGeom>
          <a:solidFill>
            <a:srgbClr val="EAF4F4"/>
          </a:solidFill>
          <a:ln/>
        </p:spPr>
      </p:sp>
      <p:pic>
        <p:nvPicPr>
          <p:cNvPr id="10" name="Image 1" descr="icons/activity-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677" y="2856357"/>
            <a:ext cx="276606" cy="27660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7249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Seasonal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417320" y="30175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dominant annual heating / cooling cycle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731520" y="3657600"/>
            <a:ext cx="502920" cy="502920"/>
          </a:xfrm>
          <a:prstGeom prst="ellipse">
            <a:avLst/>
          </a:prstGeom>
          <a:solidFill>
            <a:srgbClr val="EAF4F4"/>
          </a:solidFill>
          <a:ln/>
        </p:spPr>
      </p:sp>
      <p:pic>
        <p:nvPicPr>
          <p:cNvPr id="14" name="Image 2" descr="icons/grid-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677" y="3770757"/>
            <a:ext cx="276606" cy="27660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36393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Residual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417320" y="39319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Day-to-day noise left after removing trend and season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731520" y="47091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ACF / PACF (60 LAGS)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731520" y="50749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Slow-decaying ACF with PACF cutting off after lag 1–2 — the signature of a strong seasonal, non-stationary series.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263640" y="1371600"/>
            <a:ext cx="5212080" cy="4343400"/>
          </a:xfrm>
          <a:prstGeom prst="roundRect">
            <a:avLst>
              <a:gd name="adj" fmla="val 1684"/>
            </a:avLst>
          </a:prstGeom>
          <a:solidFill>
            <a:srgbClr val="0B2545"/>
          </a:solidFill>
          <a:ln/>
        </p:spPr>
      </p:sp>
      <p:sp>
        <p:nvSpPr>
          <p:cNvPr id="20" name="Text 15"/>
          <p:cNvSpPr/>
          <p:nvPr/>
        </p:nvSpPr>
        <p:spPr>
          <a:xfrm>
            <a:off x="6583680" y="15727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 DICKEY–FULLER TEST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583680" y="2011680"/>
            <a:ext cx="4572000" cy="1417320"/>
          </a:xfrm>
          <a:prstGeom prst="roundRect">
            <a:avLst>
              <a:gd name="adj" fmla="val 3871"/>
            </a:avLst>
          </a:prstGeom>
          <a:solidFill>
            <a:srgbClr val="13315C"/>
          </a:solidFill>
          <a:ln/>
        </p:spPr>
      </p:sp>
      <p:sp>
        <p:nvSpPr>
          <p:cNvPr id="22" name="Text 17"/>
          <p:cNvSpPr/>
          <p:nvPr/>
        </p:nvSpPr>
        <p:spPr>
          <a:xfrm>
            <a:off x="6766560" y="214884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FA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ADF Statistic : </a:t>
            </a:r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-1.4216
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FA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p-value       : </a:t>
            </a:r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0.5719
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FA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 (5%) : </a:t>
            </a:r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-2.8655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583680" y="36576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583680" y="397764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0.572 &gt; 0.05 → fail to reject H₀. The raw daily temperature series is non-stationary, dominated by its annual seasonal cycle rather than a stochastic trend.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583680" y="5074920"/>
            <a:ext cx="457200" cy="457200"/>
          </a:xfrm>
          <a:prstGeom prst="ellipse">
            <a:avLst/>
          </a:prstGeom>
          <a:solidFill>
            <a:srgbClr val="154F63"/>
          </a:solidFill>
          <a:ln/>
        </p:spPr>
      </p:sp>
      <p:pic>
        <p:nvPicPr>
          <p:cNvPr id="26" name="Image 3" descr="icons/alert-triangle-mi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550" y="5177790"/>
            <a:ext cx="251460" cy="2514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223760" y="50749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Differencing (or an annual seasonal term) is needed before classical ARIMA-style forecasting.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Damietta Weather Analytics  •  Task 4: Time-Series EDA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81360" y="4572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AF4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Correlations &amp; Relationships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coastal station keeps humidity high year-round — so correlations with temperature stay weak.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331720" y="1490472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91840" y="1490472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51960" y="1490472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12080" y="1490472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25880" y="1874520"/>
            <a:ext cx="96012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31720" y="1874520"/>
            <a:ext cx="923544" cy="923544"/>
          </a:xfrm>
          <a:prstGeom prst="rect">
            <a:avLst/>
          </a:prstGeom>
          <a:solidFill>
            <a:srgbClr val="1331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31720" y="1874520"/>
            <a:ext cx="92354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91840" y="1874520"/>
            <a:ext cx="923544" cy="923544"/>
          </a:xfrm>
          <a:prstGeom prst="rect">
            <a:avLst/>
          </a:prstGeom>
          <a:solidFill>
            <a:srgbClr val="A9D3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874520"/>
            <a:ext cx="92354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-0.09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51960" y="1874520"/>
            <a:ext cx="923544" cy="923544"/>
          </a:xfrm>
          <a:prstGeom prst="rect">
            <a:avLst/>
          </a:prstGeom>
          <a:solidFill>
            <a:srgbClr val="4F92A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51960" y="1874520"/>
            <a:ext cx="92354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212080" y="1874520"/>
            <a:ext cx="923544" cy="923544"/>
          </a:xfrm>
          <a:prstGeom prst="rect">
            <a:avLst/>
          </a:prstGeom>
          <a:solidFill>
            <a:srgbClr val="4F92A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1874520"/>
            <a:ext cx="92354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25880" y="2834640"/>
            <a:ext cx="96012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331720" y="2834640"/>
            <a:ext cx="923544" cy="923544"/>
          </a:xfrm>
          <a:prstGeom prst="rect">
            <a:avLst/>
          </a:prstGeom>
          <a:solidFill>
            <a:srgbClr val="A9D3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31720" y="2834640"/>
            <a:ext cx="92354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-0.09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91840" y="2834640"/>
            <a:ext cx="923544" cy="923544"/>
          </a:xfrm>
          <a:prstGeom prst="rect">
            <a:avLst/>
          </a:prstGeom>
          <a:solidFill>
            <a:srgbClr val="1331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2834640"/>
            <a:ext cx="92354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251960" y="2834640"/>
            <a:ext cx="923544" cy="923544"/>
          </a:xfrm>
          <a:prstGeom prst="rect">
            <a:avLst/>
          </a:prstGeom>
          <a:solidFill>
            <a:srgbClr val="A9D3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51960" y="2834640"/>
            <a:ext cx="92354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-0.05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212080" y="2834640"/>
            <a:ext cx="923544" cy="923544"/>
          </a:xfrm>
          <a:prstGeom prst="rect">
            <a:avLst/>
          </a:prstGeom>
          <a:solidFill>
            <a:srgbClr val="A9D3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2834640"/>
            <a:ext cx="92354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25880" y="3794760"/>
            <a:ext cx="96012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331720" y="3794760"/>
            <a:ext cx="923544" cy="923544"/>
          </a:xfrm>
          <a:prstGeom prst="rect">
            <a:avLst/>
          </a:prstGeom>
          <a:solidFill>
            <a:srgbClr val="4F92A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31720" y="3794760"/>
            <a:ext cx="92354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-0.13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91840" y="3794760"/>
            <a:ext cx="923544" cy="923544"/>
          </a:xfrm>
          <a:prstGeom prst="rect">
            <a:avLst/>
          </a:prstGeom>
          <a:solidFill>
            <a:srgbClr val="A9D3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0" y="3794760"/>
            <a:ext cx="92354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-0.05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251960" y="3794760"/>
            <a:ext cx="923544" cy="923544"/>
          </a:xfrm>
          <a:prstGeom prst="rect">
            <a:avLst/>
          </a:prstGeom>
          <a:solidFill>
            <a:srgbClr val="1331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51960" y="3794760"/>
            <a:ext cx="92354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212080" y="3794760"/>
            <a:ext cx="923544" cy="923544"/>
          </a:xfrm>
          <a:prstGeom prst="rect">
            <a:avLst/>
          </a:prstGeom>
          <a:solidFill>
            <a:srgbClr val="4F92A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12080" y="3794760"/>
            <a:ext cx="92354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325880" y="4754880"/>
            <a:ext cx="96012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Precip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331720" y="4754880"/>
            <a:ext cx="923544" cy="923544"/>
          </a:xfrm>
          <a:prstGeom prst="rect">
            <a:avLst/>
          </a:prstGeom>
          <a:solidFill>
            <a:srgbClr val="4F92A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331720" y="4754880"/>
            <a:ext cx="92354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-0.12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291840" y="4754880"/>
            <a:ext cx="923544" cy="923544"/>
          </a:xfrm>
          <a:prstGeom prst="rect">
            <a:avLst/>
          </a:prstGeom>
          <a:solidFill>
            <a:srgbClr val="A9D3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91840" y="4754880"/>
            <a:ext cx="92354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251960" y="4754880"/>
            <a:ext cx="923544" cy="923544"/>
          </a:xfrm>
          <a:prstGeom prst="rect">
            <a:avLst/>
          </a:prstGeom>
          <a:solidFill>
            <a:srgbClr val="4F92A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51960" y="4754880"/>
            <a:ext cx="92354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212080" y="4754880"/>
            <a:ext cx="923544" cy="923544"/>
          </a:xfrm>
          <a:prstGeom prst="rect">
            <a:avLst/>
          </a:prstGeom>
          <a:solidFill>
            <a:srgbClr val="1331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12080" y="4754880"/>
            <a:ext cx="92354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132320" y="17830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7132320" y="2194560"/>
            <a:ext cx="365760" cy="365760"/>
          </a:xfrm>
          <a:prstGeom prst="ellipse">
            <a:avLst/>
          </a:prstGeom>
          <a:solidFill>
            <a:srgbClr val="EAF4F4"/>
          </a:solidFill>
          <a:ln/>
        </p:spPr>
      </p:sp>
      <p:pic>
        <p:nvPicPr>
          <p:cNvPr id="47" name="Image 0" descr="icons/link-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5472" y="2267712"/>
            <a:ext cx="219456" cy="219456"/>
          </a:xfrm>
          <a:prstGeom prst="rect">
            <a:avLst/>
          </a:prstGeom>
        </p:spPr>
      </p:pic>
      <p:sp>
        <p:nvSpPr>
          <p:cNvPr id="48" name="Text 45"/>
          <p:cNvSpPr/>
          <p:nvPr/>
        </p:nvSpPr>
        <p:spPr>
          <a:xfrm>
            <a:off x="7635240" y="2194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↔ humidity: r = −0.09 — essentially decoupled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7132320" y="2852928"/>
            <a:ext cx="365760" cy="365760"/>
          </a:xfrm>
          <a:prstGeom prst="ellipse">
            <a:avLst/>
          </a:prstGeom>
          <a:solidFill>
            <a:srgbClr val="EAF4F4"/>
          </a:solidFill>
          <a:ln/>
        </p:spPr>
      </p:sp>
      <p:pic>
        <p:nvPicPr>
          <p:cNvPr id="50" name="Image 1" descr="icons/link-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5472" y="2926080"/>
            <a:ext cx="219456" cy="219456"/>
          </a:xfrm>
          <a:prstGeom prst="rect">
            <a:avLst/>
          </a:prstGeom>
        </p:spPr>
      </p:pic>
      <p:sp>
        <p:nvSpPr>
          <p:cNvPr id="51" name="Text 47"/>
          <p:cNvSpPr/>
          <p:nvPr/>
        </p:nvSpPr>
        <p:spPr>
          <a:xfrm>
            <a:off x="7635240" y="28529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↔ wind speed: r = −0.13 — weakest driver of temperature</a:t>
            </a:r>
            <a:endParaRPr lang="en-US" sz="1100" dirty="0"/>
          </a:p>
        </p:txBody>
      </p:sp>
      <p:sp>
        <p:nvSpPr>
          <p:cNvPr id="52" name="Shape 48"/>
          <p:cNvSpPr/>
          <p:nvPr/>
        </p:nvSpPr>
        <p:spPr>
          <a:xfrm>
            <a:off x="7132320" y="3511296"/>
            <a:ext cx="365760" cy="365760"/>
          </a:xfrm>
          <a:prstGeom prst="ellipse">
            <a:avLst/>
          </a:prstGeom>
          <a:solidFill>
            <a:srgbClr val="EAF4F4"/>
          </a:solidFill>
          <a:ln/>
        </p:spPr>
      </p:sp>
      <p:pic>
        <p:nvPicPr>
          <p:cNvPr id="53" name="Image 2" descr="icons/link-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472" y="3584448"/>
            <a:ext cx="219456" cy="219456"/>
          </a:xfrm>
          <a:prstGeom prst="rect">
            <a:avLst/>
          </a:prstGeom>
        </p:spPr>
      </p:pic>
      <p:sp>
        <p:nvSpPr>
          <p:cNvPr id="54" name="Text 49"/>
          <p:cNvSpPr/>
          <p:nvPr/>
        </p:nvSpPr>
        <p:spPr>
          <a:xfrm>
            <a:off x="7635240" y="351129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↔ precipitation: r = −0.12 — rain days run only slightly cooler</a:t>
            </a:r>
            <a:endParaRPr lang="en-US" sz="1100" dirty="0"/>
          </a:p>
        </p:txBody>
      </p:sp>
      <p:sp>
        <p:nvSpPr>
          <p:cNvPr id="55" name="Shape 50"/>
          <p:cNvSpPr/>
          <p:nvPr/>
        </p:nvSpPr>
        <p:spPr>
          <a:xfrm>
            <a:off x="7132320" y="4169664"/>
            <a:ext cx="365760" cy="365760"/>
          </a:xfrm>
          <a:prstGeom prst="ellipse">
            <a:avLst/>
          </a:prstGeom>
          <a:solidFill>
            <a:srgbClr val="EAF4F4"/>
          </a:solidFill>
          <a:ln/>
        </p:spPr>
      </p:sp>
      <p:pic>
        <p:nvPicPr>
          <p:cNvPr id="56" name="Image 3" descr="icons/link-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5472" y="4242816"/>
            <a:ext cx="219456" cy="219456"/>
          </a:xfrm>
          <a:prstGeom prst="rect">
            <a:avLst/>
          </a:prstGeom>
        </p:spPr>
      </p:pic>
      <p:sp>
        <p:nvSpPr>
          <p:cNvPr id="57" name="Text 51"/>
          <p:cNvSpPr/>
          <p:nvPr/>
        </p:nvSpPr>
        <p:spPr>
          <a:xfrm>
            <a:off x="7635240" y="416966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relationships far weaker than a typical inland desert station</a:t>
            </a:r>
            <a:endParaRPr lang="en-US" sz="1100" dirty="0"/>
          </a:p>
        </p:txBody>
      </p:sp>
      <p:sp>
        <p:nvSpPr>
          <p:cNvPr id="58" name="Text 52"/>
          <p:cNvSpPr/>
          <p:nvPr/>
        </p:nvSpPr>
        <p:spPr>
          <a:xfrm>
            <a:off x="731520" y="59893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also plots a 4-variable scatter matrix, a 3D Temp×Humidity×Wind view, and lag plots (k=1, k=7).</a:t>
            </a:r>
            <a:endParaRPr lang="en-US" sz="1000" dirty="0"/>
          </a:p>
        </p:txBody>
      </p:sp>
      <p:sp>
        <p:nvSpPr>
          <p:cNvPr id="59" name="Text 53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Damietta Weather Analytics  •  Task 4: Time-Series EDA</a:t>
            </a:r>
            <a:endParaRPr lang="en-US" sz="1000" dirty="0"/>
          </a:p>
        </p:txBody>
      </p:sp>
      <p:sp>
        <p:nvSpPr>
          <p:cNvPr id="60" name="Text 54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81360" y="4572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Volatility &amp; Outlier Detection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457200" cy="45720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6" name="Image 0" descr="icons/activity-m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" y="197739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85623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7-day rolling volatility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71600" y="2148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standard deviation of daily temperature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31520" y="2743200"/>
            <a:ext cx="457200" cy="45720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10" name="Image 1" descr="icons/alert-triangle-m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390" y="284607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272491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Rolling Z-score (30-day window)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371600" y="3017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points with |Z| &gt; 2.5 against a local baseline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731520" y="3611880"/>
            <a:ext cx="457200" cy="45720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14" name="Image 2" descr="icons/check-circle-m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3714750"/>
            <a:ext cx="251460" cy="2514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359359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Physical-plausibility check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371600" y="3886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IQR-style pass — 0 implausible temps, 0 negative rainfall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263640" y="1417320"/>
            <a:ext cx="5212080" cy="4434840"/>
          </a:xfrm>
          <a:prstGeom prst="roundRect">
            <a:avLst>
              <a:gd name="adj" fmla="val 1856"/>
            </a:avLst>
          </a:prstGeom>
          <a:solidFill>
            <a:srgbClr val="13315C"/>
          </a:solidFill>
          <a:ln/>
        </p:spPr>
      </p:sp>
      <p:sp>
        <p:nvSpPr>
          <p:cNvPr id="18" name="Shape 13"/>
          <p:cNvSpPr/>
          <p:nvPr/>
        </p:nvSpPr>
        <p:spPr>
          <a:xfrm>
            <a:off x="6583680" y="1737360"/>
            <a:ext cx="640080" cy="640080"/>
          </a:xfrm>
          <a:prstGeom prst="ellipse">
            <a:avLst/>
          </a:prstGeom>
          <a:solidFill>
            <a:srgbClr val="154F63"/>
          </a:solidFill>
          <a:ln/>
        </p:spPr>
      </p:sp>
      <p:pic>
        <p:nvPicPr>
          <p:cNvPr id="19" name="Image 3" descr="icons/cloud-rain-mi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7698" y="1881378"/>
            <a:ext cx="352044" cy="3520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406640" y="18105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NOTABLE ANOMALY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6583680" y="26060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15.5 mm</a:t>
            </a:r>
            <a:endParaRPr lang="en-US" sz="4000" dirty="0"/>
          </a:p>
        </p:txBody>
      </p:sp>
      <p:sp>
        <p:nvSpPr>
          <p:cNvPr id="22" name="Text 16"/>
          <p:cNvSpPr/>
          <p:nvPr/>
        </p:nvSpPr>
        <p:spPr>
          <a:xfrm>
            <a:off x="658368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Single-day storm — 7 September 2025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583680" y="37490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wettest single day in the two-year record, and an unusually early-autumn rainfall event — flagged automatically by the rolling Z-score detector rather than hand-picked.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583680" y="4709160"/>
            <a:ext cx="4572000" cy="0"/>
          </a:xfrm>
          <a:prstGeom prst="line">
            <a:avLst/>
          </a:prstGeom>
          <a:noFill/>
          <a:ln w="12700">
            <a:solidFill>
              <a:srgbClr val="154F63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6583680" y="48920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peak: 30.8°C on 11 Sep 2024   •   Winter low: 12.4°C on 23 Feb 2025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Damietta Weather Analytics  •  Task 4: Time-Series EDA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FD8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81360" y="4572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AF4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Dashboard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self-contained dashboard.html — 20 Plotly visualizations across 6 tabs, no server required.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EAF4F4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87452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icons/bar-chart-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731" y="1962851"/>
            <a:ext cx="243962" cy="2439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67912" y="180136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FD8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235000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14400" y="26517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Histograms, marginal boxplots, violin/KDE for all 4 variables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389120" y="169164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EAF4F4"/>
          </a:solidFill>
          <a:ln/>
        </p:spPr>
      </p:sp>
      <p:sp>
        <p:nvSpPr>
          <p:cNvPr id="12" name="Shape 9"/>
          <p:cNvSpPr/>
          <p:nvPr/>
        </p:nvSpPr>
        <p:spPr>
          <a:xfrm>
            <a:off x="4572000" y="187452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icons/trending-up-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0331" y="1962851"/>
            <a:ext cx="243962" cy="24396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25512" y="180136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FD8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572000" y="235000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 Trends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572000" y="26517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temp with 7-/30-day rolling means, daily rainfall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8046720" y="169164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EAF4F4"/>
          </a:solidFill>
          <a:ln/>
        </p:spPr>
      </p:sp>
      <p:sp>
        <p:nvSpPr>
          <p:cNvPr id="18" name="Shape 14"/>
          <p:cNvSpPr/>
          <p:nvPr/>
        </p:nvSpPr>
        <p:spPr>
          <a:xfrm>
            <a:off x="8229600" y="187452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2" descr="icons/layers-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7931" y="1962851"/>
            <a:ext cx="243962" cy="24396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183112" y="180136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FD8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229600" y="235000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Decomposition &amp; ACF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8229600" y="26517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/ seasonal / residual split, ACF/PACF (60 lags)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731520" y="338328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EAF4F4"/>
          </a:solidFill>
          <a:ln/>
        </p:spPr>
      </p:sp>
      <p:sp>
        <p:nvSpPr>
          <p:cNvPr id="24" name="Shape 19"/>
          <p:cNvSpPr/>
          <p:nvPr/>
        </p:nvSpPr>
        <p:spPr>
          <a:xfrm>
            <a:off x="914400" y="356616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3" descr="icons/link-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731" y="3654491"/>
            <a:ext cx="243962" cy="24396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867912" y="349300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FD8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914400" y="404164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Correlations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914400" y="43434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Heatmap, scatter matrix, 3D Temp×Humidity×Wind, lag plots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4389120" y="338328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EAF4F4"/>
          </a:solidFill>
          <a:ln/>
        </p:spPr>
      </p:sp>
      <p:sp>
        <p:nvSpPr>
          <p:cNvPr id="30" name="Shape 24"/>
          <p:cNvSpPr/>
          <p:nvPr/>
        </p:nvSpPr>
        <p:spPr>
          <a:xfrm>
            <a:off x="4572000" y="356616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4" descr="icons/calendar-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331" y="3654491"/>
            <a:ext cx="243962" cy="24396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525512" y="349300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FD8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4572000" y="404164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Seasonal Analysis</a:t>
            </a:r>
            <a:endParaRPr 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4572000" y="43434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boxplots, parallel coordinates, calendar heatmap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8046720" y="338328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EAF4F4"/>
          </a:solidFill>
          <a:ln/>
        </p:spPr>
      </p:sp>
      <p:sp>
        <p:nvSpPr>
          <p:cNvPr id="36" name="Shape 29"/>
          <p:cNvSpPr/>
          <p:nvPr/>
        </p:nvSpPr>
        <p:spPr>
          <a:xfrm>
            <a:off x="8229600" y="356616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7" name="Image 5" descr="icons/alert-triangle-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7931" y="3654491"/>
            <a:ext cx="243962" cy="24396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1183112" y="349300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FD8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8229600" y="404164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Volatility &amp; Outliers</a:t>
            </a:r>
            <a:endParaRPr lang="en-US" sz="1250" dirty="0"/>
          </a:p>
        </p:txBody>
      </p:sp>
      <p:sp>
        <p:nvSpPr>
          <p:cNvPr id="40" name="Text 32"/>
          <p:cNvSpPr/>
          <p:nvPr/>
        </p:nvSpPr>
        <p:spPr>
          <a:xfrm>
            <a:off x="8229600" y="43434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volatility, Z-score anomalies, storm highlight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731520" y="59436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dashboard.html directly in any browser — fully self-contained, no dependencies, no server needed.</a:t>
            </a:r>
            <a:endParaRPr lang="en-US" sz="1000" dirty="0"/>
          </a:p>
        </p:txBody>
      </p:sp>
      <p:sp>
        <p:nvSpPr>
          <p:cNvPr id="42" name="Text 34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Damietta Weather Analytics  •  Task 4: Time-Series EDA</a:t>
            </a:r>
            <a:endParaRPr lang="en-US" sz="1000" dirty="0"/>
          </a:p>
        </p:txBody>
      </p:sp>
      <p:sp>
        <p:nvSpPr>
          <p:cNvPr id="43" name="Text 35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gentle coastal climate,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fully characterized.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2834640"/>
            <a:ext cx="384048" cy="384048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6" name="Image 0" descr="icons/thermometer-m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931" y="2921051"/>
            <a:ext cx="211226" cy="2112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283464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Damietta’s Mediterranean coastal position produces a gentle 12.4–30.8°C thermal swing.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31520" y="3456432"/>
            <a:ext cx="384048" cy="384048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9" name="Image 1" descr="icons/cloud-rain-m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931" y="3542843"/>
            <a:ext cx="211226" cy="21122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3456432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is scarce (125.6 mm/2yr) and winter-concentrated — 71% of days stay completely dry.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731520" y="4078224"/>
            <a:ext cx="384048" cy="384048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12" name="Image 2" descr="icons/activity-m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931" y="4164635"/>
            <a:ext cx="211226" cy="21122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4078224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series is non-stationary (ADF p = 0.572) and dominated by a strong annual seasonal cycle.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731520" y="4700016"/>
            <a:ext cx="384048" cy="384048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15" name="Image 3" descr="icons/monitor-mi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931" y="4786427"/>
            <a:ext cx="211226" cy="21122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80160" y="4700016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findings are reproducible end-to-end: raw JSON → clean CSV → notebook → interactive dashboard.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731520" y="6355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Damietta Weather Analytics &amp; Time-Series EDA  —  Cellula Technologies ML Internship Program, Task 4</a:t>
            </a:r>
            <a:endParaRPr lang="en-US" sz="1050" dirty="0"/>
          </a:p>
        </p:txBody>
      </p:sp>
      <p:sp>
        <p:nvSpPr>
          <p:cNvPr id="18" name="Text 12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FD8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2026-08-01T18:19:55Z</dcterms:created>
  <dcterms:modified xsi:type="dcterms:W3CDTF">2026-08-01T18:19:55Z</dcterms:modified>
</cp:coreProperties>
</file>