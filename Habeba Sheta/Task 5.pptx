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ACF</c:v>
                </c:pt>
              </c:strCache>
            </c:strRef>
          </c:tx>
          <c:spPr>
            <a:solidFill>
              <a:srgbClr val="F4A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0.09</c:v>
                </c:pt>
                <c:pt idx="2">
                  <c:v>-0.22</c:v>
                </c:pt>
                <c:pt idx="3">
                  <c:v>-0.18</c:v>
                </c:pt>
                <c:pt idx="4">
                  <c:v>0.05</c:v>
                </c:pt>
                <c:pt idx="5">
                  <c:v>-0.03</c:v>
                </c:pt>
                <c:pt idx="6">
                  <c:v>0.04</c:v>
                </c:pt>
                <c:pt idx="7">
                  <c:v>0.06</c:v>
                </c:pt>
                <c:pt idx="8">
                  <c:v>-0.02</c:v>
                </c:pt>
                <c:pt idx="9">
                  <c:v>0.05</c:v>
                </c:pt>
                <c:pt idx="10">
                  <c:v>0.03</c:v>
                </c:pt>
                <c:pt idx="11">
                  <c:v>-0.03</c:v>
                </c:pt>
                <c:pt idx="12">
                  <c:v>0.06</c:v>
                </c:pt>
                <c:pt idx="13">
                  <c:v>0.02</c:v>
                </c:pt>
                <c:pt idx="14">
                  <c:v>-0.04</c:v>
                </c:pt>
                <c:pt idx="15">
                  <c:v>0.03</c:v>
                </c:pt>
                <c:pt idx="16">
                  <c:v>0.02</c:v>
                </c:pt>
                <c:pt idx="17">
                  <c:v>0.05</c:v>
                </c:pt>
                <c:pt idx="18">
                  <c:v>0.01</c:v>
                </c:pt>
                <c:pt idx="19">
                  <c:v>-0.03</c:v>
                </c:pt>
                <c:pt idx="20">
                  <c:v>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PACF</c:v>
                </c:pt>
              </c:strCache>
            </c:strRef>
          </c:tx>
          <c:spPr>
            <a:solidFill>
              <a:srgbClr val="1B3A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0.09</c:v>
                </c:pt>
                <c:pt idx="2">
                  <c:v>-0.28</c:v>
                </c:pt>
                <c:pt idx="3">
                  <c:v>-0.1</c:v>
                </c:pt>
                <c:pt idx="4">
                  <c:v>0.02</c:v>
                </c:pt>
                <c:pt idx="5">
                  <c:v>-0.04</c:v>
                </c:pt>
                <c:pt idx="6">
                  <c:v>-0.02</c:v>
                </c:pt>
                <c:pt idx="7">
                  <c:v>0.03</c:v>
                </c:pt>
                <c:pt idx="8">
                  <c:v>0.01</c:v>
                </c:pt>
                <c:pt idx="9">
                  <c:v>0.02</c:v>
                </c:pt>
                <c:pt idx="10">
                  <c:v>-0.02</c:v>
                </c:pt>
                <c:pt idx="11">
                  <c:v>0.04</c:v>
                </c:pt>
                <c:pt idx="12">
                  <c:v>0.05</c:v>
                </c:pt>
                <c:pt idx="13">
                  <c:v>-0.03</c:v>
                </c:pt>
                <c:pt idx="14">
                  <c:v>0.02</c:v>
                </c:pt>
                <c:pt idx="15">
                  <c:v>0.01</c:v>
                </c:pt>
                <c:pt idx="16">
                  <c:v>-0.02</c:v>
                </c:pt>
                <c:pt idx="17">
                  <c:v>0.03</c:v>
                </c:pt>
                <c:pt idx="18">
                  <c:v>0.02</c:v>
                </c:pt>
                <c:pt idx="19">
                  <c:v>-0.01</c:v>
                </c:pt>
                <c:pt idx="20">
                  <c:v>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AIC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(0,1,0)</c:v>
                  </c:pt>
                  <c:pt idx="1">
                    <c:v>(1,1,0)</c:v>
                  </c:pt>
                  <c:pt idx="2">
                    <c:v>(0,1,1)</c:v>
                  </c:pt>
                  <c:pt idx="3">
                    <c:v>(1,1,1)</c:v>
                  </c:pt>
                  <c:pt idx="4">
                    <c:v>(2,1,0)</c:v>
                  </c:pt>
                  <c:pt idx="5">
                    <c:v>(3,1,0)</c:v>
                  </c:pt>
                  <c:pt idx="6">
                    <c:v>(1,1,2)</c:v>
                  </c:pt>
                  <c:pt idx="7">
                    <c:v>(3,1,2)</c:v>
                  </c:pt>
                  <c:pt idx="8">
                    <c:v>(2,1,2)</c:v>
                  </c:pt>
                  <c:pt idx="9">
                    <c:v>(3,1,1)</c:v>
                  </c:pt>
                  <c:pt idx="10">
                    <c:v>(2,1,1)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2544.225</c:v>
                </c:pt>
                <c:pt idx="1">
                  <c:v>2537.253</c:v>
                </c:pt>
                <c:pt idx="2">
                  <c:v>2530.905</c:v>
                </c:pt>
                <c:pt idx="3">
                  <c:v>2521.304</c:v>
                </c:pt>
                <c:pt idx="4">
                  <c:v>2479.376</c:v>
                </c:pt>
                <c:pt idx="5">
                  <c:v>2465.025</c:v>
                </c:pt>
                <c:pt idx="6">
                  <c:v>2457.21</c:v>
                </c:pt>
                <c:pt idx="7">
                  <c:v>2453.877</c:v>
                </c:pt>
                <c:pt idx="8">
                  <c:v>2451.93</c:v>
                </c:pt>
                <c:pt idx="9">
                  <c:v>2451.88</c:v>
                </c:pt>
                <c:pt idx="10">
                  <c:v>2450.572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9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2440"/>
        </c:scaling>
        <c:delete val="0"/>
        <c:axPos val="l"/>
        <c:majorGridlines>
          <c:spPr>
            <a:ln w="9525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6B6B"/>
                    </a:solidFill>
                    <a:latin typeface="Arial"/>
                  </a:rPr>
                  <a:t>AIC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(recent)</c:v>
                </c:pt>
              </c:strCache>
            </c:strRef>
          </c:tx>
          <c:spPr>
            <a:solidFill>
              <a:srgbClr val="1B3A4B"/>
            </a:solidFill>
            <a:ln w="25400" cap="flat">
              <a:solidFill>
                <a:srgbClr val="1B3A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3A4B"/>
              </a:solidFill>
              <a:ln w="9525" cap="flat">
                <a:solidFill>
                  <a:srgbClr val="1B3A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Oct 15</c:v>
                  </c:pt>
                  <c:pt idx="1">
                    <c:v>Oct 22</c:v>
                  </c:pt>
                  <c:pt idx="2">
                    <c:v>Oct 29</c:v>
                  </c:pt>
                  <c:pt idx="3">
                    <c:v>Nov 5</c:v>
                  </c:pt>
                  <c:pt idx="4">
                    <c:v>Nov 12</c:v>
                  </c:pt>
                  <c:pt idx="5">
                    <c:v>Nov 19</c:v>
                  </c:pt>
                  <c:pt idx="6">
                    <c:v>Nov 26</c:v>
                  </c:pt>
                  <c:pt idx="7">
                    <c:v>Dec 3</c:v>
                  </c:pt>
                  <c:pt idx="8">
                    <c:v>Dec 10</c:v>
                  </c:pt>
                  <c:pt idx="9">
                    <c:v>Dec 11</c:v>
                  </c:pt>
                  <c:pt idx="10">
                    <c:v>Dec 13</c:v>
                  </c:pt>
                  <c:pt idx="11">
                    <c:v>Dec 15</c:v>
                  </c:pt>
                  <c:pt idx="12">
                    <c:v>Dec 17</c:v>
                  </c:pt>
                  <c:pt idx="13">
                    <c:v>Dec 19</c:v>
                  </c:pt>
                  <c:pt idx="14">
                    <c:v>Dec 21</c:v>
                  </c:pt>
                  <c:pt idx="15">
                    <c:v>Dec 23</c:v>
                  </c:pt>
                  <c:pt idx="16">
                    <c:v>Dec 25</c:v>
                  </c:pt>
                  <c:pt idx="17">
                    <c:v>Dec 27</c:v>
                  </c:pt>
                  <c:pt idx="18">
                    <c:v>Dec 29</c:v>
                  </c:pt>
                  <c:pt idx="19">
                    <c:v>Dec 31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25.2</c:v>
                </c:pt>
                <c:pt idx="1">
                  <c:v>24</c:v>
                </c:pt>
                <c:pt idx="2">
                  <c:v>24.6</c:v>
                </c:pt>
                <c:pt idx="3">
                  <c:v>23</c:v>
                </c:pt>
                <c:pt idx="4">
                  <c:v>22</c:v>
                </c:pt>
                <c:pt idx="5">
                  <c:v>20.5</c:v>
                </c:pt>
                <c:pt idx="6">
                  <c:v>17.3</c:v>
                </c:pt>
                <c:pt idx="7">
                  <c:v>17.8</c:v>
                </c:pt>
                <c:pt idx="8">
                  <c:v>15.4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CI upper</c:v>
                </c:pt>
              </c:strCache>
            </c:strRef>
          </c:tx>
          <c:spPr>
            <a:solidFill>
              <a:srgbClr val="F0C9A8"/>
            </a:solidFill>
            <a:ln w="25400" cap="flat">
              <a:solidFill>
                <a:srgbClr val="F0C9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0C9A8"/>
              </a:solidFill>
              <a:ln w="9525" cap="flat">
                <a:solidFill>
                  <a:srgbClr val="F0C9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Oct 15</c:v>
                  </c:pt>
                  <c:pt idx="1">
                    <c:v>Oct 22</c:v>
                  </c:pt>
                  <c:pt idx="2">
                    <c:v>Oct 29</c:v>
                  </c:pt>
                  <c:pt idx="3">
                    <c:v>Nov 5</c:v>
                  </c:pt>
                  <c:pt idx="4">
                    <c:v>Nov 12</c:v>
                  </c:pt>
                  <c:pt idx="5">
                    <c:v>Nov 19</c:v>
                  </c:pt>
                  <c:pt idx="6">
                    <c:v>Nov 26</c:v>
                  </c:pt>
                  <c:pt idx="7">
                    <c:v>Dec 3</c:v>
                  </c:pt>
                  <c:pt idx="8">
                    <c:v>Dec 10</c:v>
                  </c:pt>
                  <c:pt idx="9">
                    <c:v>Dec 11</c:v>
                  </c:pt>
                  <c:pt idx="10">
                    <c:v>Dec 13</c:v>
                  </c:pt>
                  <c:pt idx="11">
                    <c:v>Dec 15</c:v>
                  </c:pt>
                  <c:pt idx="12">
                    <c:v>Dec 17</c:v>
                  </c:pt>
                  <c:pt idx="13">
                    <c:v>Dec 19</c:v>
                  </c:pt>
                  <c:pt idx="14">
                    <c:v>Dec 21</c:v>
                  </c:pt>
                  <c:pt idx="15">
                    <c:v>Dec 23</c:v>
                  </c:pt>
                  <c:pt idx="16">
                    <c:v>Dec 25</c:v>
                  </c:pt>
                  <c:pt idx="17">
                    <c:v>Dec 27</c:v>
                  </c:pt>
                  <c:pt idx="18">
                    <c:v>Dec 29</c:v>
                  </c:pt>
                  <c:pt idx="19">
                    <c:v>Dec 31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18.9</c:v>
                </c:pt>
                <c:pt idx="10">
                  <c:v>18.9</c:v>
                </c:pt>
                <c:pt idx="11">
                  <c:v>18.9</c:v>
                </c:pt>
                <c:pt idx="12">
                  <c:v>18.85</c:v>
                </c:pt>
                <c:pt idx="13">
                  <c:v>18.8</c:v>
                </c:pt>
                <c:pt idx="14">
                  <c:v>18.75</c:v>
                </c:pt>
                <c:pt idx="15">
                  <c:v>18.65</c:v>
                </c:pt>
                <c:pt idx="16">
                  <c:v>18.55</c:v>
                </c:pt>
                <c:pt idx="17">
                  <c:v>18.5</c:v>
                </c:pt>
                <c:pt idx="18">
                  <c:v>18.6</c:v>
                </c:pt>
                <c:pt idx="19">
                  <c:v>18.7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95% CI lower</c:v>
                </c:pt>
              </c:strCache>
            </c:strRef>
          </c:tx>
          <c:spPr>
            <a:solidFill>
              <a:srgbClr val="F0C9A8"/>
            </a:solidFill>
            <a:ln w="25400" cap="flat">
              <a:solidFill>
                <a:srgbClr val="F0C9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0C9A8"/>
              </a:solidFill>
              <a:ln w="9525" cap="flat">
                <a:solidFill>
                  <a:srgbClr val="F0C9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Oct 15</c:v>
                  </c:pt>
                  <c:pt idx="1">
                    <c:v>Oct 22</c:v>
                  </c:pt>
                  <c:pt idx="2">
                    <c:v>Oct 29</c:v>
                  </c:pt>
                  <c:pt idx="3">
                    <c:v>Nov 5</c:v>
                  </c:pt>
                  <c:pt idx="4">
                    <c:v>Nov 12</c:v>
                  </c:pt>
                  <c:pt idx="5">
                    <c:v>Nov 19</c:v>
                  </c:pt>
                  <c:pt idx="6">
                    <c:v>Nov 26</c:v>
                  </c:pt>
                  <c:pt idx="7">
                    <c:v>Dec 3</c:v>
                  </c:pt>
                  <c:pt idx="8">
                    <c:v>Dec 10</c:v>
                  </c:pt>
                  <c:pt idx="9">
                    <c:v>Dec 11</c:v>
                  </c:pt>
                  <c:pt idx="10">
                    <c:v>Dec 13</c:v>
                  </c:pt>
                  <c:pt idx="11">
                    <c:v>Dec 15</c:v>
                  </c:pt>
                  <c:pt idx="12">
                    <c:v>Dec 17</c:v>
                  </c:pt>
                  <c:pt idx="13">
                    <c:v>Dec 19</c:v>
                  </c:pt>
                  <c:pt idx="14">
                    <c:v>Dec 21</c:v>
                  </c:pt>
                  <c:pt idx="15">
                    <c:v>Dec 23</c:v>
                  </c:pt>
                  <c:pt idx="16">
                    <c:v>Dec 25</c:v>
                  </c:pt>
                  <c:pt idx="17">
                    <c:v>Dec 27</c:v>
                  </c:pt>
                  <c:pt idx="18">
                    <c:v>Dec 29</c:v>
                  </c:pt>
                  <c:pt idx="19">
                    <c:v>Dec 31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13.7</c:v>
                </c:pt>
                <c:pt idx="10">
                  <c:v>13.4</c:v>
                </c:pt>
                <c:pt idx="11">
                  <c:v>13.1</c:v>
                </c:pt>
                <c:pt idx="12">
                  <c:v>12.85</c:v>
                </c:pt>
                <c:pt idx="13">
                  <c:v>12.6</c:v>
                </c:pt>
                <c:pt idx="14">
                  <c:v>12.35</c:v>
                </c:pt>
                <c:pt idx="15">
                  <c:v>12.15</c:v>
                </c:pt>
                <c:pt idx="16">
                  <c:v>11.95</c:v>
                </c:pt>
                <c:pt idx="17">
                  <c:v>11.7</c:v>
                </c:pt>
                <c:pt idx="18">
                  <c:v>11</c:v>
                </c:pt>
                <c:pt idx="19">
                  <c:v>10.3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5B8C5A"/>
            </a:solidFill>
            <a:ln w="25400" cap="flat">
              <a:solidFill>
                <a:srgbClr val="5B8C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8C5A"/>
              </a:solidFill>
              <a:ln w="9525" cap="flat">
                <a:solidFill>
                  <a:srgbClr val="5B8C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Oct 15</c:v>
                  </c:pt>
                  <c:pt idx="1">
                    <c:v>Oct 22</c:v>
                  </c:pt>
                  <c:pt idx="2">
                    <c:v>Oct 29</c:v>
                  </c:pt>
                  <c:pt idx="3">
                    <c:v>Nov 5</c:v>
                  </c:pt>
                  <c:pt idx="4">
                    <c:v>Nov 12</c:v>
                  </c:pt>
                  <c:pt idx="5">
                    <c:v>Nov 19</c:v>
                  </c:pt>
                  <c:pt idx="6">
                    <c:v>Nov 26</c:v>
                  </c:pt>
                  <c:pt idx="7">
                    <c:v>Dec 3</c:v>
                  </c:pt>
                  <c:pt idx="8">
                    <c:v>Dec 10</c:v>
                  </c:pt>
                  <c:pt idx="9">
                    <c:v>Dec 11</c:v>
                  </c:pt>
                  <c:pt idx="10">
                    <c:v>Dec 13</c:v>
                  </c:pt>
                  <c:pt idx="11">
                    <c:v>Dec 15</c:v>
                  </c:pt>
                  <c:pt idx="12">
                    <c:v>Dec 17</c:v>
                  </c:pt>
                  <c:pt idx="13">
                    <c:v>Dec 19</c:v>
                  </c:pt>
                  <c:pt idx="14">
                    <c:v>Dec 21</c:v>
                  </c:pt>
                  <c:pt idx="15">
                    <c:v>Dec 23</c:v>
                  </c:pt>
                  <c:pt idx="16">
                    <c:v>Dec 25</c:v>
                  </c:pt>
                  <c:pt idx="17">
                    <c:v>Dec 27</c:v>
                  </c:pt>
                  <c:pt idx="18">
                    <c:v>Dec 29</c:v>
                  </c:pt>
                  <c:pt idx="19">
                    <c:v>Dec 31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14</c:v>
                </c:pt>
                <c:pt idx="10">
                  <c:v>15.8</c:v>
                </c:pt>
                <c:pt idx="11">
                  <c:v>17.9</c:v>
                </c:pt>
                <c:pt idx="12">
                  <c:v>18.3</c:v>
                </c:pt>
                <c:pt idx="13">
                  <c:v>16.8</c:v>
                </c:pt>
                <c:pt idx="14">
                  <c:v>13.6</c:v>
                </c:pt>
                <c:pt idx="15">
                  <c:v>15</c:v>
                </c:pt>
                <c:pt idx="16">
                  <c:v>17.5</c:v>
                </c:pt>
                <c:pt idx="17">
                  <c:v>16.4</c:v>
                </c:pt>
                <c:pt idx="18">
                  <c:v>16.6</c:v>
                </c:pt>
                <c:pt idx="19">
                  <c:v>15.4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C1440E"/>
            </a:solidFill>
            <a:ln w="25400" cap="flat">
              <a:solidFill>
                <a:srgbClr val="C1440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1440E"/>
              </a:solidFill>
              <a:ln w="9525" cap="flat">
                <a:solidFill>
                  <a:srgbClr val="C1440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Oct 15</c:v>
                  </c:pt>
                  <c:pt idx="1">
                    <c:v>Oct 22</c:v>
                  </c:pt>
                  <c:pt idx="2">
                    <c:v>Oct 29</c:v>
                  </c:pt>
                  <c:pt idx="3">
                    <c:v>Nov 5</c:v>
                  </c:pt>
                  <c:pt idx="4">
                    <c:v>Nov 12</c:v>
                  </c:pt>
                  <c:pt idx="5">
                    <c:v>Nov 19</c:v>
                  </c:pt>
                  <c:pt idx="6">
                    <c:v>Nov 26</c:v>
                  </c:pt>
                  <c:pt idx="7">
                    <c:v>Dec 3</c:v>
                  </c:pt>
                  <c:pt idx="8">
                    <c:v>Dec 10</c:v>
                  </c:pt>
                  <c:pt idx="9">
                    <c:v>Dec 11</c:v>
                  </c:pt>
                  <c:pt idx="10">
                    <c:v>Dec 13</c:v>
                  </c:pt>
                  <c:pt idx="11">
                    <c:v>Dec 15</c:v>
                  </c:pt>
                  <c:pt idx="12">
                    <c:v>Dec 17</c:v>
                  </c:pt>
                  <c:pt idx="13">
                    <c:v>Dec 19</c:v>
                  </c:pt>
                  <c:pt idx="14">
                    <c:v>Dec 21</c:v>
                  </c:pt>
                  <c:pt idx="15">
                    <c:v>Dec 23</c:v>
                  </c:pt>
                  <c:pt idx="16">
                    <c:v>Dec 25</c:v>
                  </c:pt>
                  <c:pt idx="17">
                    <c:v>Dec 27</c:v>
                  </c:pt>
                  <c:pt idx="18">
                    <c:v>Dec 29</c:v>
                  </c:pt>
                  <c:pt idx="19">
                    <c:v>Dec 31</c:v>
                  </c:pt>
                </c:lvl>
              </c:multiLvlStrCache>
            </c:multiLvl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16.3</c:v>
                </c:pt>
                <c:pt idx="10">
                  <c:v>16.15</c:v>
                </c:pt>
                <c:pt idx="11">
                  <c:v>16</c:v>
                </c:pt>
                <c:pt idx="12">
                  <c:v>15.85</c:v>
                </c:pt>
                <c:pt idx="13">
                  <c:v>15.7</c:v>
                </c:pt>
                <c:pt idx="14">
                  <c:v>15.55</c:v>
                </c:pt>
                <c:pt idx="15">
                  <c:v>15.4</c:v>
                </c:pt>
                <c:pt idx="16">
                  <c:v>15.25</c:v>
                </c:pt>
                <c:pt idx="17">
                  <c:v>15.1</c:v>
                </c:pt>
                <c:pt idx="18">
                  <c:v>14.8</c:v>
                </c:pt>
                <c:pt idx="19">
                  <c:v>14.5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6B6B"/>
                    </a:solidFill>
                    <a:latin typeface="Arial"/>
                  </a:rPr>
                  <a:t>°C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2A2A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SARIMAX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A2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1.351</c:v>
                </c:pt>
                <c:pt idx="1">
                  <c:v>1.305</c:v>
                </c:pt>
                <c:pt idx="2">
                  <c:v>0.988</c:v>
                </c:pt>
                <c:pt idx="3">
                  <c:v>1.503</c:v>
                </c:pt>
                <c:pt idx="4">
                  <c:v>1.275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 (persistence)</c:v>
                </c:pt>
              </c:strCache>
            </c:strRef>
          </c:tx>
          <c:spPr>
            <a:solidFill>
              <a:srgbClr val="C9C2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A2A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1.504</c:v>
                </c:pt>
                <c:pt idx="1">
                  <c:v>1.415</c:v>
                </c:pt>
                <c:pt idx="2">
                  <c:v>3.258</c:v>
                </c:pt>
                <c:pt idx="3">
                  <c:v>1.597</c:v>
                </c:pt>
                <c:pt idx="4">
                  <c:v>0.944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2A2A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B6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6B6B"/>
                    </a:solidFill>
                    <a:latin typeface="Arial"/>
                  </a:rPr>
                  <a:t>MAE (°C)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A2A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3" name="Image 0" descr="/home/claude/task5_pptx/icons/char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88331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6517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Cairo Temperature Forecasting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66928" y="3703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TIME-SERIES PREPROCESSING &amp; SARIMAX FORECASTING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Task 4 dataset  ·  709 days train / 21 days test  ·  SARIMAX(2,1,1) + harmonic regression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Did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from a clean time series to an evaluated forecasting model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4160520"/>
          </a:xfrm>
          <a:prstGeom prst="roundRect">
            <a:avLst>
              <a:gd name="adj" fmla="val 4138"/>
            </a:avLst>
          </a:prstGeom>
          <a:solidFill>
            <a:srgbClr val="F6EFE7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240280"/>
            <a:ext cx="731520" cy="73152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6" name="Image 0" descr="/home/claude/task5_pptx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325" y="24158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Preprocess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daily frequency, applied time-aware interpolation, and engineered cyclical (day-of-year) and lag features.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874520"/>
            <a:ext cx="2651760" cy="4160520"/>
          </a:xfrm>
          <a:prstGeom prst="roundRect">
            <a:avLst>
              <a:gd name="adj" fmla="val 4138"/>
            </a:avLst>
          </a:prstGeom>
          <a:solidFill>
            <a:srgbClr val="F6EFE7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240280"/>
            <a:ext cx="731520" cy="73152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1" name="Image 1" descr="/home/claude/task5_pptx/icons/w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685" y="24158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154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Stationarity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57600" y="361188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ADF and KPSS together, confirmed non-stationarity, then differenced once (d=1) to stabilize the series.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874520"/>
            <a:ext cx="2651760" cy="4160520"/>
          </a:xfrm>
          <a:prstGeom prst="roundRect">
            <a:avLst>
              <a:gd name="adj" fmla="val 4138"/>
            </a:avLst>
          </a:prstGeom>
          <a:solidFill>
            <a:srgbClr val="F6EFE7"/>
          </a:solidFill>
          <a:ln/>
        </p:spPr>
      </p:sp>
      <p:sp>
        <p:nvSpPr>
          <p:cNvPr id="15" name="Shape 11"/>
          <p:cNvSpPr/>
          <p:nvPr/>
        </p:nvSpPr>
        <p:spPr>
          <a:xfrm>
            <a:off x="7269480" y="2240280"/>
            <a:ext cx="731520" cy="73152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6" name="Image 2" descr="/home/claude/task5_pptx/icons/flas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045" y="241584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154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Model Selection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37960" y="361188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manual ACF/PACF reading with auto_arima, then handled the 365-day seasonality via harmonic regression.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874520"/>
            <a:ext cx="2651760" cy="4160520"/>
          </a:xfrm>
          <a:prstGeom prst="roundRect">
            <a:avLst>
              <a:gd name="adj" fmla="val 4138"/>
            </a:avLst>
          </a:prstGeom>
          <a:solidFill>
            <a:srgbClr val="F6EFE7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49840" y="2240280"/>
            <a:ext cx="731520" cy="73152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21" name="Image 3" descr="/home/claude/task5_pptx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405" y="241584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3154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 Evaluation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418320" y="361188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residuals, forecast the last 3 weeks, and validated with 5-fold walk-forward testing against naive baselines.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Preprocessing for Forecasting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the Task 4 dataset — new steps needed specifically for modeling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6EFE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928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1840" y="189280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df.asfreq('D') — explicit daily DatetimeIndex confirmed (&lt;Day&gt;)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07208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6EFE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1693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916936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interpolation applied (0 gaps found — dataset already complete)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31336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6EFE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4106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3941064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doy_sin / doy_cos — sine/cosine of day-of-year, since seasonality here is annual, not hourly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55464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6EFE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9651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96519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 (yesterday), lag_7 (last week), lag_365 (same day last year)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 hour-of-day features are used — every record is one full day, so the classic "hour_sin/cos, lag_24" pattern was adapted to day-of-year and lag_365.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Time-Aware Train / Test Split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shuffled — a chronological cutoff so the model forecasts the future from the past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8558784" cy="822960"/>
          </a:xfrm>
          <a:prstGeom prst="roundRect">
            <a:avLst>
              <a:gd name="adj" fmla="val 6667"/>
            </a:avLst>
          </a:prstGeom>
          <a:solidFill>
            <a:srgbClr val="1B3A4B"/>
          </a:solidFill>
          <a:ln/>
        </p:spPr>
      </p:sp>
      <p:sp>
        <p:nvSpPr>
          <p:cNvPr id="5" name="Shape 3"/>
          <p:cNvSpPr/>
          <p:nvPr/>
        </p:nvSpPr>
        <p:spPr>
          <a:xfrm>
            <a:off x="9290304" y="2788920"/>
            <a:ext cx="2139696" cy="822960"/>
          </a:xfrm>
          <a:prstGeom prst="roundRect">
            <a:avLst>
              <a:gd name="adj" fmla="val 6667"/>
            </a:avLst>
          </a:prstGeom>
          <a:solidFill>
            <a:srgbClr val="C1440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44952"/>
            <a:ext cx="8558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709 days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84464" y="4114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21 days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360152" y="3611880"/>
            <a:ext cx="0" cy="457200"/>
          </a:xfrm>
          <a:prstGeom prst="line">
            <a:avLst/>
          </a:prstGeom>
          <a:noFill/>
          <a:ln w="19050">
            <a:solidFill>
              <a:srgbClr val="C1440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1520" y="24048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2022-01-01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18704" y="2404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cutoff: 2023-12-10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92640" y="2404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2023-12-31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4572000"/>
            <a:ext cx="3200400" cy="62362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709 / 21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71600" y="517550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split (train / test)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4572000"/>
            <a:ext cx="3200400" cy="62362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44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weeks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937760" y="517550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horizon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4572000"/>
            <a:ext cx="3200400" cy="62362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44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Zero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03920" y="517550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shuffling — chronological 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Stationarity Check — Before Differencing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and KPSS run together on the training set; both should agree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66360" cy="3840480"/>
          </a:xfrm>
          <a:prstGeom prst="roundRect">
            <a:avLst>
              <a:gd name="adj" fmla="val 2857"/>
            </a:avLst>
          </a:prstGeom>
          <a:solidFill>
            <a:srgbClr val="F6EFE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series has a unit root (non-stationary)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194560" cy="6803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-1.703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6758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statistic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3017520"/>
            <a:ext cx="2194560" cy="6803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0.4296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36758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343400"/>
            <a:ext cx="4617720" cy="1051560"/>
          </a:xfrm>
          <a:prstGeom prst="roundRect">
            <a:avLst>
              <a:gd name="adj" fmla="val 8696"/>
            </a:avLst>
          </a:prstGeom>
          <a:solidFill>
            <a:srgbClr val="C1440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720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NON-STATIONARY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 → cannot reject H0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5166360" cy="3840480"/>
          </a:xfrm>
          <a:prstGeom prst="roundRect">
            <a:avLst>
              <a:gd name="adj" fmla="val 2857"/>
            </a:avLst>
          </a:prstGeom>
          <a:solidFill>
            <a:srgbClr val="F6EFE7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KPSS 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series is stationary (opposite of ADF)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3017520"/>
            <a:ext cx="2194560" cy="6803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0.597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37960" y="36758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KPSS statistic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15400" y="3017520"/>
            <a:ext cx="2194560" cy="6803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0.0229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915400" y="36758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4343400"/>
            <a:ext cx="4617720" cy="1051560"/>
          </a:xfrm>
          <a:prstGeom prst="roundRect">
            <a:avLst>
              <a:gd name="adj" fmla="val 8696"/>
            </a:avLst>
          </a:prstGeom>
          <a:solidFill>
            <a:srgbClr val="1B3A4B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5720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3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NON-STATIONARY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50749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reject H0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agree — the series is non-stationary, driven by the strong annual seasonal cycle identified in Task 4.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Differencing &amp; Order Clues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round of differencing (d=1) was enough to reach stationarity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2286000" cy="65196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44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 =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36829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differencing order chosen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691640"/>
            <a:ext cx="8595360" cy="1051560"/>
          </a:xfrm>
          <a:prstGeom prst="roundRect">
            <a:avLst>
              <a:gd name="adj" fmla="val 8696"/>
            </a:avLst>
          </a:prstGeom>
          <a:solidFill>
            <a:srgbClr val="F6EFE7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16916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1st differencing, ADF p-value dropped to ≈ 0.000000 → confidently stationary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(after differencing)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3246120"/>
          <a:ext cx="5486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17220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PACF (after differencing)</a:t>
            </a:r>
            <a:endParaRPr lang="en-US" sz="11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080760" y="3246120"/>
          <a:ext cx="5486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cut off sharply after lag 1–2, with no slow decay — a strong visual confirmation of stationarity and an early hint of low AR/MA orders.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Order Selection: Manual vs auto_arima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AIC search across candidate (p,d,q) combinations — lower is better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737360"/>
            <a:ext cx="3429000" cy="4434840"/>
          </a:xfrm>
          <a:prstGeom prst="roundRect">
            <a:avLst>
              <a:gd name="adj" fmla="val 3200"/>
            </a:avLst>
          </a:prstGeom>
          <a:solidFill>
            <a:srgbClr val="1B3A4B"/>
          </a:solidFill>
          <a:ln/>
        </p:spPr>
      </p:sp>
      <p:sp>
        <p:nvSpPr>
          <p:cNvPr id="6" name="Text 3"/>
          <p:cNvSpPr/>
          <p:nvPr/>
        </p:nvSpPr>
        <p:spPr>
          <a:xfrm>
            <a:off x="845820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ORDER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58200" y="22860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(2, 1, 1)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458200" y="3017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AIC = 2450.57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58200" y="3520440"/>
            <a:ext cx="2971800" cy="0"/>
          </a:xfrm>
          <a:prstGeom prst="line">
            <a:avLst/>
          </a:prstGeom>
          <a:noFill/>
          <a:ln w="12700">
            <a:solidFill>
              <a:srgbClr val="3E5A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37033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ACF/PACF reading suggested p=1–2, q=1–2 — directly consistent with the automated result.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58200" y="4937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approaches agreed — a strong signal the order choice is well-grounded, not arbitrary.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Handling Seasonality: Harmonic Regression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substitute for full SARIMA when the seasonal period is very long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6EFE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6" name="Image 0" descr="/home/claude/task5_pptx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000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not classic SARIMA(P,D,Q,m=365)?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data with an annual cycle means m = 365. Seasonal SARIMA cost scales heavily with m, training data spans under 2 full cycles (709 days), and a full seasonal grid search was not computationally practical here.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783080"/>
            <a:ext cx="5623560" cy="4023360"/>
          </a:xfrm>
          <a:prstGeom prst="roundRect">
            <a:avLst>
              <a:gd name="adj" fmla="val 2727"/>
            </a:avLst>
          </a:prstGeom>
          <a:solidFill>
            <a:srgbClr val="1B3A4B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2057400"/>
            <a:ext cx="594360" cy="5943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1" name="Image 1" descr="/home/claude/task5_pptx/icons/wav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06" y="22000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1031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fix: doy_sin / doy_cos as exogenous regressors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09360" y="278892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3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ARIMA(2,1,1) + two harmonic predictors encoding day-of-year gives the model explicit seasonal position — a standard, low-cost alternative to long-period SARIMA.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309360" y="4251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doy_sin coefficient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9144000" y="4251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-4.069  (p &lt; 0.001)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309360" y="46360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doy_cos coefficient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9144000" y="463600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-8.527  (p &lt; 0.001)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309360" y="502005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without seasonality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9144000" y="502005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2450.57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309360" y="540410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with harmonic terms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9144000" y="540410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2418.79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Comparison &amp; Decision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AIC alone was not enough to justify the more complex model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01752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920240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66160" y="1920240"/>
            <a:ext cx="123444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7" name="Text 5"/>
          <p:cNvSpPr/>
          <p:nvPr/>
        </p:nvSpPr>
        <p:spPr>
          <a:xfrm>
            <a:off x="3639312" y="1920240"/>
            <a:ext cx="1088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920240"/>
            <a:ext cx="160020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9" name="Text 7"/>
          <p:cNvSpPr/>
          <p:nvPr/>
        </p:nvSpPr>
        <p:spPr>
          <a:xfrm>
            <a:off x="4873752" y="19202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137160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92024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p (10)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0" y="1920240"/>
            <a:ext cx="137160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3" name="Text 11"/>
          <p:cNvSpPr/>
          <p:nvPr/>
        </p:nvSpPr>
        <p:spPr>
          <a:xfrm>
            <a:off x="7845552" y="192024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p (20)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0" y="1920240"/>
            <a:ext cx="137160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5" name="Text 13"/>
          <p:cNvSpPr/>
          <p:nvPr/>
        </p:nvSpPr>
        <p:spPr>
          <a:xfrm>
            <a:off x="9217152" y="192024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p (30)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515600" y="1920240"/>
            <a:ext cx="137160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88752" y="192024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423160"/>
            <a:ext cx="3017520" cy="594360"/>
          </a:xfrm>
          <a:prstGeom prst="rect">
            <a:avLst/>
          </a:prstGeom>
          <a:solidFill>
            <a:srgbClr val="E7F0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423160"/>
            <a:ext cx="2871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SARIMAX(2,1,1) + harmonic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66160" y="2423160"/>
            <a:ext cx="1234440" cy="594360"/>
          </a:xfrm>
          <a:prstGeom prst="rect">
            <a:avLst/>
          </a:prstGeom>
          <a:solidFill>
            <a:srgbClr val="E7F0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2423160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2418.78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423160"/>
            <a:ext cx="1600200" cy="594360"/>
          </a:xfrm>
          <a:prstGeom prst="rect">
            <a:avLst/>
          </a:prstGeom>
          <a:solidFill>
            <a:srgbClr val="E7F0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42316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2423160"/>
            <a:ext cx="1371600" cy="594360"/>
          </a:xfrm>
          <a:prstGeom prst="rect">
            <a:avLst/>
          </a:prstGeom>
          <a:solidFill>
            <a:srgbClr val="E7F0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42316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0" y="2423160"/>
            <a:ext cx="1371600" cy="594360"/>
          </a:xfrm>
          <a:prstGeom prst="rect">
            <a:avLst/>
          </a:prstGeom>
          <a:solidFill>
            <a:srgbClr val="E7F0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5552" y="242316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44000" y="2423160"/>
            <a:ext cx="1371600" cy="594360"/>
          </a:xfrm>
          <a:prstGeom prst="rect">
            <a:avLst/>
          </a:prstGeom>
          <a:solidFill>
            <a:srgbClr val="E7F0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7152" y="242316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0.0059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515600" y="2423160"/>
            <a:ext cx="1371600" cy="594360"/>
          </a:xfrm>
          <a:prstGeom prst="rect">
            <a:avLst/>
          </a:prstGeom>
          <a:solidFill>
            <a:srgbClr val="E7F0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88752" y="242316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3017520"/>
            <a:ext cx="3017520" cy="594360"/>
          </a:xfrm>
          <a:prstGeom prst="rect">
            <a:avLst/>
          </a:prstGeom>
          <a:solidFill>
            <a:srgbClr val="FBEA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017520"/>
            <a:ext cx="28712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SARIMAX(3,1,2) + harmonic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66160" y="3017520"/>
            <a:ext cx="1234440" cy="594360"/>
          </a:xfrm>
          <a:prstGeom prst="rect">
            <a:avLst/>
          </a:prstGeom>
          <a:solidFill>
            <a:srgbClr val="FBEA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9312" y="3017520"/>
            <a:ext cx="1088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2402.33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3017520"/>
            <a:ext cx="1600200" cy="594360"/>
          </a:xfrm>
          <a:prstGeom prst="rect">
            <a:avLst/>
          </a:prstGeom>
          <a:solidFill>
            <a:srgbClr val="FBEA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01752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warning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0" y="3017520"/>
            <a:ext cx="1371600" cy="594360"/>
          </a:xfrm>
          <a:prstGeom prst="rect">
            <a:avLst/>
          </a:prstGeom>
          <a:solidFill>
            <a:srgbClr val="FBEA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301752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0.000009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772400" y="3017520"/>
            <a:ext cx="1371600" cy="594360"/>
          </a:xfrm>
          <a:prstGeom prst="rect">
            <a:avLst/>
          </a:prstGeom>
          <a:solidFill>
            <a:srgbClr val="FBEA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45552" y="301752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0.000022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144000" y="3017520"/>
            <a:ext cx="1371600" cy="594360"/>
          </a:xfrm>
          <a:prstGeom prst="rect">
            <a:avLst/>
          </a:prstGeom>
          <a:solidFill>
            <a:srgbClr val="FBEA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17152" y="301752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0.00047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0515600" y="3017520"/>
            <a:ext cx="1371600" cy="594360"/>
          </a:xfrm>
          <a:prstGeom prst="rect">
            <a:avLst/>
          </a:prstGeom>
          <a:solidFill>
            <a:srgbClr val="FBEA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88752" y="3017520"/>
            <a:ext cx="1225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397764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6EFE7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rationale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22960" y="45262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(3,1,2) model scored a lower AIC but failed to converge cleanly (ConvergenceWarning) and left worse residual autocorrelation at every tested lag — meaning the extra complexity solved nothing. SARIMAX(2,1,1) + harmonic regression was kept as the final model: simpler, stable, and no worse where it matters.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Residual Diagnostics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whether the model's errors behave like random noise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6EFE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84832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6" name="Image 0" descr="/home/claude/task5_pptx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21650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2996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residuals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Fluctuate around zero with no obvious pattern — one notable spike near each April, matching the high-volatility season found in Task 4.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6EFE7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084832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1" name="Image 1" descr="/home/claude/task5_pptx/icons/warn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94" y="221650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02996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663440" y="278892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normal but with heavier tails (Jarque-Bera rejects normality) — a few larger-than-expected errors, mostly at seasonal turning points.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6EFE7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084832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pic>
        <p:nvPicPr>
          <p:cNvPr id="16" name="Image 2" descr="/home/claude/task5_pptx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74" y="221650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202996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Correlogram (visual)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503920" y="2788920"/>
            <a:ext cx="2971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lags fall inside the confidence band — no obvious leftover autocorrelation to the eye.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LJUNG-BOX TEST — RESIDUAL AUTOCORRELATION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50749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B3A4B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5138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3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0.0241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548640" y="55961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10 p-value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063240" y="50749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B3A4B"/>
          </a:solidFill>
          <a:ln/>
        </p:spPr>
      </p:sp>
      <p:sp>
        <p:nvSpPr>
          <p:cNvPr id="24" name="Text 19"/>
          <p:cNvSpPr/>
          <p:nvPr/>
        </p:nvSpPr>
        <p:spPr>
          <a:xfrm>
            <a:off x="3063240" y="5138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3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0.0018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3063240" y="55961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20 p-value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577840" y="50749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B3A4B"/>
          </a:solidFill>
          <a:ln/>
        </p:spPr>
      </p:sp>
      <p:sp>
        <p:nvSpPr>
          <p:cNvPr id="27" name="Text 22"/>
          <p:cNvSpPr/>
          <p:nvPr/>
        </p:nvSpPr>
        <p:spPr>
          <a:xfrm>
            <a:off x="5577840" y="513892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3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0.0059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5577840" y="55961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30 p-value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7955280" y="50749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 &lt; 0.05: statistically significant residual structure remains — a documented, honest limitation. With 709 observations the test is very sensitive; visually the correlogram looks clean.</a:t>
            </a:r>
            <a:endParaRPr lang="en-US" sz="1080" dirty="0"/>
          </a:p>
        </p:txBody>
      </p:sp>
      <p:sp>
        <p:nvSpPr>
          <p:cNvPr id="30" name="Text 2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Forecast vs Actual — Test Window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11–31, 2023 (21 days) — with 95% confidence interval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001000" y="1783080"/>
            <a:ext cx="3657600" cy="5952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44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1.275°C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001000" y="23591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MAE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01000" y="2697480"/>
            <a:ext cx="3657600" cy="5952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44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1.397°C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01000" y="32735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01000" y="3611880"/>
            <a:ext cx="3657600" cy="59527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44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8.03%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001000" y="41879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01000" y="470916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F6EFE7"/>
          </a:solidFill>
          <a:ln/>
        </p:spPr>
      </p:sp>
      <p:sp>
        <p:nvSpPr>
          <p:cNvPr id="12" name="Text 9"/>
          <p:cNvSpPr/>
          <p:nvPr/>
        </p:nvSpPr>
        <p:spPr>
          <a:xfrm>
            <a:off x="8183880" y="482803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single window, naive persistence (0.944°C) beat the model — actual temps oscillated instead of continuing the trend. See next slide.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Walk-Forward Validation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rolling 21-day test windows — a single split can be misleading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73152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783080"/>
            <a:ext cx="3383280" cy="6803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44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1.284°C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0" y="24414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SARIMAX MAE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2926080"/>
            <a:ext cx="3383280" cy="6803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1.744°C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0" y="35844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naive MAE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411480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1B3A4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42519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3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~26%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412480" y="48920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error than the naive baseline, on average — won 4 of 5 folds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Final Conclusion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4" name="Image 0" descr="/home/claude/task5_pptx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1459382"/>
            <a:ext cx="190195" cy="1901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16736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SARIMAX(2,1,1) + harmonic regression (doy_sin, doy_cos) was the only model built — a practical substitute for full SARIMA given the 365-day seasonal period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212848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7" name="Image 1" descr="/home/claude/task5_pptx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" y="2300630"/>
            <a:ext cx="190195" cy="1901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157984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ACF/PACF reading and auto_arima independently agreed on order (2,1,1) — a well-grounded choice, not an arbitrary one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3054096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0" name="Image 2" descr="/home/claude/task5_pptx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3141878"/>
            <a:ext cx="190195" cy="1901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999232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complex (3,1,2) model was tested and rejected: lower AIC, but failed to converge and left worse residual autocorrelation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48640" y="3895344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3" name="Image 3" descr="/home/claude/task5_pptx/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" y="3983126"/>
            <a:ext cx="190195" cy="1901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84048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 across 5 folds shows the model beats a naive persistence baseline by ~26% on average (MAE 1.284°C vs 1.744°C), winning 4 of 5 windows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48640" y="4736592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6" name="Image 4" descr="/home/claude/task5_pptx/icon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" y="4824374"/>
            <a:ext cx="190195" cy="19019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468172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limitation: Ljung-Box still detects small residual autocorrelation — likely because 2 years of data is not quite enough to fully characterize an annual cycle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9189720" y="1371600"/>
            <a:ext cx="2468880" cy="4206240"/>
          </a:xfrm>
          <a:prstGeom prst="roundRect">
            <a:avLst>
              <a:gd name="adj" fmla="val 4444"/>
            </a:avLst>
          </a:prstGeom>
          <a:solidFill>
            <a:srgbClr val="24485A"/>
          </a:solidFill>
          <a:ln/>
        </p:spPr>
      </p:sp>
      <p:sp>
        <p:nvSpPr>
          <p:cNvPr id="19" name="Text 12"/>
          <p:cNvSpPr/>
          <p:nvPr/>
        </p:nvSpPr>
        <p:spPr>
          <a:xfrm>
            <a:off x="9372600" y="1554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937260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3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Forecasting notebook</a:t>
            </a:r>
            <a:endParaRPr lang="en-US" sz="1080" dirty="0"/>
          </a:p>
        </p:txBody>
      </p:sp>
      <p:sp>
        <p:nvSpPr>
          <p:cNvPr id="21" name="Text 14"/>
          <p:cNvSpPr/>
          <p:nvPr/>
        </p:nvSpPr>
        <p:spPr>
          <a:xfrm>
            <a:off x="9372600" y="24963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3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ADF + KPSS results</a:t>
            </a:r>
            <a:endParaRPr lang="en-US" sz="1080" dirty="0"/>
          </a:p>
        </p:txBody>
      </p:sp>
      <p:sp>
        <p:nvSpPr>
          <p:cNvPr id="22" name="Text 15"/>
          <p:cNvSpPr/>
          <p:nvPr/>
        </p:nvSpPr>
        <p:spPr>
          <a:xfrm>
            <a:off x="9372600" y="30266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3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ACF/PACF + auto_arima</a:t>
            </a:r>
            <a:endParaRPr lang="en-US" sz="1080" dirty="0"/>
          </a:p>
        </p:txBody>
      </p:sp>
      <p:sp>
        <p:nvSpPr>
          <p:cNvPr id="23" name="Text 16"/>
          <p:cNvSpPr/>
          <p:nvPr/>
        </p:nvSpPr>
        <p:spPr>
          <a:xfrm>
            <a:off x="9372600" y="35570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3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Diagnostics + Ljung-Box</a:t>
            </a:r>
            <a:endParaRPr lang="en-US" sz="1080" dirty="0"/>
          </a:p>
        </p:txBody>
      </p:sp>
      <p:sp>
        <p:nvSpPr>
          <p:cNvPr id="24" name="Text 17"/>
          <p:cNvSpPr/>
          <p:nvPr/>
        </p:nvSpPr>
        <p:spPr>
          <a:xfrm>
            <a:off x="9372600" y="40873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3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Forecast plot + CI</a:t>
            </a:r>
            <a:endParaRPr lang="en-US" sz="1080" dirty="0"/>
          </a:p>
        </p:txBody>
      </p:sp>
      <p:sp>
        <p:nvSpPr>
          <p:cNvPr id="25" name="Text 18"/>
          <p:cNvSpPr/>
          <p:nvPr/>
        </p:nvSpPr>
        <p:spPr>
          <a:xfrm>
            <a:off x="9372600" y="4617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3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Walk-forward scores</a:t>
            </a:r>
            <a:endParaRPr lang="en-US" sz="1080" dirty="0"/>
          </a:p>
        </p:txBody>
      </p:sp>
      <p:sp>
        <p:nvSpPr>
          <p:cNvPr id="26" name="Text 19"/>
          <p:cNvSpPr/>
          <p:nvPr/>
        </p:nvSpPr>
        <p:spPr>
          <a:xfrm>
            <a:off x="9372600" y="51480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3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Written conclusion</a:t>
            </a:r>
            <a:endParaRPr lang="en-US" sz="1080" dirty="0"/>
          </a:p>
        </p:txBody>
      </p:sp>
      <p:sp>
        <p:nvSpPr>
          <p:cNvPr id="27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Temperature Forecasting — Task 5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2026-08-08T00:10:22Z</dcterms:created>
  <dcterms:modified xsi:type="dcterms:W3CDTF">2026-08-08T00:10:22Z</dcterms:modified>
</cp:coreProperties>
</file>