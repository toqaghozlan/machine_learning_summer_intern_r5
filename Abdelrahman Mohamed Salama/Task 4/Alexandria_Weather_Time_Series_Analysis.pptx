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75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045534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3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206240" cy="420624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846320"/>
            <a:ext cx="3840480" cy="384048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9659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8FC1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ACQUISITION  •  TIME-SERIES STRUCTURING  •  EXPLORATORY DATA ANALYSIS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822960" y="2377440"/>
            <a:ext cx="10515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Alexandria Weather</a:t>
            </a:r>
            <a:endParaRPr lang="en-US" sz="4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Time-Series Analysis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434340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7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NASA POWER-sourced daily record (2021–2025) explored for trend, seasonality,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7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data quality ahead of forecasting work.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59893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E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Alexandria, Egypt   |   31.20°N, 29.92°E   |   1,826 daily records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 &amp; Scope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3A4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an extended daily weather record for one region, structure it as a proper time series, and apply EDA techniques built for sequential data — not just summary statistics — to judge data quality and describe temporal behavior before any modeling.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514600"/>
            <a:ext cx="2606040" cy="1828800"/>
          </a:xfrm>
          <a:prstGeom prst="roundRect">
            <a:avLst>
              <a:gd name="adj" fmla="val 5000"/>
            </a:avLst>
          </a:prstGeom>
          <a:solidFill>
            <a:srgbClr val="065A82"/>
          </a:solidFill>
          <a:ln/>
          <a:effectLst>
            <a:outerShdw blurRad="101600" dist="38100" dir="5400000" algn="bl" rotWithShape="0">
              <a:srgbClr val="1B2A33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2770632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1,826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85800" y="3593592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records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85800" y="393192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C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 – 2025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410712" y="2514600"/>
            <a:ext cx="2606040" cy="1828800"/>
          </a:xfrm>
          <a:prstGeom prst="roundRect">
            <a:avLst>
              <a:gd name="adj" fmla="val 5000"/>
            </a:avLst>
          </a:prstGeom>
          <a:solidFill>
            <a:srgbClr val="1C7293"/>
          </a:solidFill>
          <a:ln/>
          <a:effectLst>
            <a:outerShdw blurRad="101600" dist="38100" dir="5400000" algn="bl" rotWithShape="0">
              <a:srgbClr val="1B2A33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10712" y="2770632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3547872" y="3593592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tracked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547872" y="393192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C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temp, precip, humidity, wind, solar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72784" y="2514600"/>
            <a:ext cx="2606040" cy="1828800"/>
          </a:xfrm>
          <a:prstGeom prst="roundRect">
            <a:avLst>
              <a:gd name="adj" fmla="val 5000"/>
            </a:avLst>
          </a:prstGeom>
          <a:solidFill>
            <a:srgbClr val="065A82"/>
          </a:solidFill>
          <a:ln/>
          <a:effectLst>
            <a:outerShdw blurRad="101600" dist="38100" dir="5400000" algn="bl" rotWithShape="0">
              <a:srgbClr val="1B2A33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72784" y="2770632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6409944" y="3593592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409944" y="393192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C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gaps in the date range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134856" y="2514600"/>
            <a:ext cx="2606040" cy="1828800"/>
          </a:xfrm>
          <a:prstGeom prst="roundRect">
            <a:avLst>
              <a:gd name="adj" fmla="val 5000"/>
            </a:avLst>
          </a:prstGeom>
          <a:solidFill>
            <a:srgbClr val="1C7293"/>
          </a:solidFill>
          <a:ln/>
          <a:effectLst>
            <a:outerShdw blurRad="101600" dist="38100" dir="5400000" algn="bl" rotWithShape="0">
              <a:srgbClr val="1B2A33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134856" y="2770632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9272016" y="3593592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of history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9272016" y="393192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C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trend &amp; seasonality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48640" y="47091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DECK COVERS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5074920"/>
            <a:ext cx="10607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3A4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data was collected — API, parameters, and range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3A4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was cleaned and validated for time-series use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3A4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EDA reveals: trend, seasonality, stationarity, and anomalies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Alexandria Weather Time-Series Analysis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430000" y="654710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Data Was Collected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57971" y="1325880"/>
            <a:ext cx="5852160" cy="5074920"/>
          </a:xfrm>
          <a:prstGeom prst="roundRect">
            <a:avLst>
              <a:gd name="adj" fmla="val 2162"/>
            </a:avLst>
          </a:prstGeom>
          <a:solidFill>
            <a:srgbClr val="EEF3F6"/>
          </a:solidFill>
          <a:ln/>
          <a:effectLst>
            <a:outerShdw blurRad="101600" dist="38100" dir="5400000" algn="bl" rotWithShape="0">
              <a:srgbClr val="1B2A33">
                <a:alpha val="1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68680" y="1581912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NASA POWER — Daily Point API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68680" y="2103120"/>
            <a:ext cx="5212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68680" y="233172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4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power.larc.nasa.gov/api/temporal/daily/point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2852928"/>
            <a:ext cx="5212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68680" y="3081528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4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Alexandria, Egypt — lat 31.2001, lon 29.9187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3602736"/>
            <a:ext cx="5212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RANGE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68680" y="3831336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4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2021-01-01 to 2025-12-31 (5 years, daily)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68680" y="4352544"/>
            <a:ext cx="5212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68680" y="4581144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4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T2M, T2M_MAX, T2M_MIN, PRECTOTCORR, RH2M, WS2M, ALLSKY_SFC_SW_DWN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68680" y="5102352"/>
            <a:ext cx="5212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/ LIMITS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68680" y="5330952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4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API key required; no rate limits hit — single request, 200 OK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629400" y="1325880"/>
            <a:ext cx="5102352" cy="5074920"/>
          </a:xfrm>
          <a:prstGeom prst="roundRect">
            <a:avLst>
              <a:gd name="adj" fmla="val 2162"/>
            </a:avLst>
          </a:prstGeom>
          <a:solidFill>
            <a:srgbClr val="065A82"/>
          </a:solidFill>
          <a:ln/>
          <a:effectLst>
            <a:outerShdw blurRad="101600" dist="38100" dir="5400000" algn="bl" rotWithShape="0">
              <a:srgbClr val="1B2A33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949440" y="1618488"/>
            <a:ext cx="44622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9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API &amp; RANGE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949440" y="2103120"/>
            <a:ext cx="4462272" cy="3977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spcAft>
                <a:spcPts val="1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API key or throttling — one clean request returns the full multi-year record.</a:t>
            </a:r>
            <a:endParaRPr lang="en-US" sz="1400" dirty="0"/>
          </a:p>
          <a:p>
            <a:pPr marL="0" indent="0">
              <a:lnSpc>
                <a:spcPct val="125000"/>
              </a:lnSpc>
              <a:spcAft>
                <a:spcPts val="1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5-year daily window chosen (not a short hourly snapshot) to properly measure trend and seasonality.</a:t>
            </a:r>
            <a:endParaRPr lang="en-US" sz="1400" dirty="0"/>
          </a:p>
          <a:p>
            <a:pPr marL="0" indent="0">
              <a:lnSpc>
                <a:spcPct val="125000"/>
              </a:lnSpc>
              <a:spcAft>
                <a:spcPts val="1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two ways: raw JSON (full fidelity) and a cleaned CSV with date, temperature, precipitation, +4 extras.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Alexandria Weather Time-Series Analysis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430000" y="654710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Preparing the Time Series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3A4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any analysis, the raw pull was validated as a proper time series: parsed datetime index, checked for gaps and duplicates, quantified missing data, and confirmed unit consistency.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3429000" cy="1691640"/>
          </a:xfrm>
          <a:prstGeom prst="roundRect">
            <a:avLst>
              <a:gd name="adj" fmla="val 5405"/>
            </a:avLst>
          </a:prstGeom>
          <a:solidFill>
            <a:srgbClr val="EEF3F6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2377440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28600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Datetime index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2715768"/>
            <a:ext cx="2971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A4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column parsed to datetime and set as the DataFrame index for time-aware operations.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251960" y="2148840"/>
            <a:ext cx="3429000" cy="1691640"/>
          </a:xfrm>
          <a:prstGeom prst="roundRect">
            <a:avLst>
              <a:gd name="adj" fmla="val 5405"/>
            </a:avLst>
          </a:prstGeom>
          <a:solidFill>
            <a:srgbClr val="EEF3F6"/>
          </a:solidFill>
          <a:ln/>
        </p:spPr>
      </p:sp>
      <p:sp>
        <p:nvSpPr>
          <p:cNvPr id="9" name="Shape 7"/>
          <p:cNvSpPr/>
          <p:nvPr/>
        </p:nvSpPr>
        <p:spPr>
          <a:xfrm>
            <a:off x="4480560" y="2377440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0" y="228600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check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480560" y="2715768"/>
            <a:ext cx="2971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A4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date range compared against the index — 0 missing dates across all 1,826 days.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955280" y="2148840"/>
            <a:ext cx="3429000" cy="1691640"/>
          </a:xfrm>
          <a:prstGeom prst="roundRect">
            <a:avLst>
              <a:gd name="adj" fmla="val 5405"/>
            </a:avLst>
          </a:prstGeom>
          <a:solidFill>
            <a:srgbClr val="EEF3F6"/>
          </a:solidFill>
          <a:ln/>
        </p:spPr>
      </p:sp>
      <p:sp>
        <p:nvSpPr>
          <p:cNvPr id="13" name="Shape 11"/>
          <p:cNvSpPr/>
          <p:nvPr/>
        </p:nvSpPr>
        <p:spPr>
          <a:xfrm>
            <a:off x="8183880" y="2377440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8458200" y="228600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183880" y="2715768"/>
            <a:ext cx="2971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A4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Index-level and row-level duplicate check — 0 duplicated timestamps found.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4114800"/>
            <a:ext cx="3429000" cy="1691640"/>
          </a:xfrm>
          <a:prstGeom prst="roundRect">
            <a:avLst>
              <a:gd name="adj" fmla="val 5405"/>
            </a:avLst>
          </a:prstGeom>
          <a:solidFill>
            <a:srgbClr val="EEF3F6"/>
          </a:solidFill>
          <a:ln/>
        </p:spPr>
      </p:sp>
      <p:sp>
        <p:nvSpPr>
          <p:cNvPr id="17" name="Shape 15"/>
          <p:cNvSpPr/>
          <p:nvPr/>
        </p:nvSpPr>
        <p:spPr>
          <a:xfrm>
            <a:off x="777240" y="4343400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1051560" y="425196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77240" y="4681728"/>
            <a:ext cx="2971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A4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nulls in every column — no imputation or interpolation was required.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251960" y="4114800"/>
            <a:ext cx="3429000" cy="1691640"/>
          </a:xfrm>
          <a:prstGeom prst="roundRect">
            <a:avLst>
              <a:gd name="adj" fmla="val 5405"/>
            </a:avLst>
          </a:prstGeom>
          <a:solidFill>
            <a:srgbClr val="EEF3F6"/>
          </a:solidFill>
          <a:ln/>
        </p:spPr>
      </p:sp>
      <p:sp>
        <p:nvSpPr>
          <p:cNvPr id="21" name="Shape 19"/>
          <p:cNvSpPr/>
          <p:nvPr/>
        </p:nvSpPr>
        <p:spPr>
          <a:xfrm>
            <a:off x="4480560" y="4343400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2" name="Text 20"/>
          <p:cNvSpPr/>
          <p:nvPr/>
        </p:nvSpPr>
        <p:spPr>
          <a:xfrm>
            <a:off x="4754880" y="425196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consistency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480560" y="4681728"/>
            <a:ext cx="2971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A4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Single-source pull: °C for temperature, mm/day for precipitation, %, m/s, kWh/m²/day — no conversion needed.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955280" y="4114800"/>
            <a:ext cx="3429000" cy="1691640"/>
          </a:xfrm>
          <a:prstGeom prst="roundRect">
            <a:avLst>
              <a:gd name="adj" fmla="val 5405"/>
            </a:avLst>
          </a:prstGeom>
          <a:solidFill>
            <a:srgbClr val="EEF3F6"/>
          </a:solidFill>
          <a:ln/>
        </p:spPr>
      </p:sp>
      <p:sp>
        <p:nvSpPr>
          <p:cNvPr id="25" name="Shape 23"/>
          <p:cNvSpPr/>
          <p:nvPr/>
        </p:nvSpPr>
        <p:spPr>
          <a:xfrm>
            <a:off x="8183880" y="4343400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6" name="Text 24"/>
          <p:cNvSpPr/>
          <p:nvPr/>
        </p:nvSpPr>
        <p:spPr>
          <a:xfrm>
            <a:off x="8458200" y="425196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183880" y="4681728"/>
            <a:ext cx="2971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A4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clean, gap-free daily series — ready for descriptive, seasonal, and stationarity analysis.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Alexandria Weather Time-Series Analysis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430000" y="654710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188720" y="329184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does a typical day look like?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6903720" cy="5074920"/>
          </a:xfrm>
          <a:prstGeom prst="roundRect">
            <a:avLst>
              <a:gd name="adj" fmla="val 2162"/>
            </a:avLst>
          </a:prstGeom>
          <a:solidFill>
            <a:srgbClr val="EEF3F6"/>
          </a:solidFill>
          <a:ln/>
          <a:effectLst>
            <a:outerShdw blurRad="101600" dist="38100" dir="5400000" algn="bl" rotWithShape="0">
              <a:srgbClr val="1B2A33">
                <a:alpha val="18000"/>
              </a:srgbClr>
            </a:outerShdw>
          </a:effectLst>
        </p:spPr>
      </p:sp>
      <p:pic>
        <p:nvPicPr>
          <p:cNvPr id="6" name="Image 0" descr="/home/claude/charts/temp_di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9127" y="1554480"/>
            <a:ext cx="3259865" cy="2171700"/>
          </a:xfrm>
          <a:prstGeom prst="rect">
            <a:avLst/>
          </a:prstGeom>
        </p:spPr>
      </p:pic>
      <p:pic>
        <p:nvPicPr>
          <p:cNvPr id="7" name="Image 1" descr="/home/claude/charts/precip_dis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76812" y="3817620"/>
            <a:ext cx="3264496" cy="21717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589520" y="1234440"/>
            <a:ext cx="4142232" cy="5074920"/>
          </a:xfrm>
          <a:prstGeom prst="roundRect">
            <a:avLst>
              <a:gd name="adj" fmla="val 2649"/>
            </a:avLst>
          </a:prstGeom>
          <a:solidFill>
            <a:srgbClr val="FFFFFF"/>
          </a:solidFill>
          <a:ln w="12700">
            <a:solidFill>
              <a:srgbClr val="DCE3E7"/>
            </a:solidFill>
            <a:prstDash val="solid"/>
          </a:ln>
          <a:effectLst>
            <a:outerShdw blurRad="101600" dist="38100" dir="5400000" algn="bl" rotWithShape="0">
              <a:srgbClr val="1B2A33">
                <a:alpha val="18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7909560" y="1527048"/>
            <a:ext cx="35021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INSIGHT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7909560" y="2103120"/>
            <a:ext cx="3502152" cy="3886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spcAft>
                <a:spcPts val="2000"/>
              </a:spcAft>
              <a:buNone/>
            </a:pPr>
            <a:r>
              <a:rPr lang="en-US" sz="1600" dirty="0">
                <a:solidFill>
                  <a:srgbClr val="3A4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is roughly bell-shaped: mean 22.0°C, range 9.7–33.8°C.</a:t>
            </a:r>
            <a:endParaRPr lang="en-US" sz="1600" dirty="0"/>
          </a:p>
          <a:p>
            <a:pPr marL="0" indent="0">
              <a:lnSpc>
                <a:spcPct val="125000"/>
              </a:lnSpc>
              <a:spcAft>
                <a:spcPts val="2000"/>
              </a:spcAft>
              <a:buNone/>
            </a:pPr>
            <a:r>
              <a:rPr lang="en-US" sz="1600" dirty="0">
                <a:solidFill>
                  <a:srgbClr val="3A4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Precipitation is heavily right-skewed — most days are dry (median 0 mm), with rare spikes up to 111.6 mm.</a:t>
            </a:r>
            <a:endParaRPr lang="en-US" sz="1600" dirty="0"/>
          </a:p>
          <a:p>
            <a:pPr marL="0" indent="0">
              <a:lnSpc>
                <a:spcPct val="125000"/>
              </a:lnSpc>
              <a:spcAft>
                <a:spcPts val="2000"/>
              </a:spcAft>
              <a:buNone/>
            </a:pPr>
            <a:r>
              <a:rPr lang="en-US" sz="1600" dirty="0">
                <a:solidFill>
                  <a:srgbClr val="3A4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shapes call for different tools: precipitation needs skew-aware methods like IQR, not z-scores.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Alexandria Weather Time-Series Analysis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11430000" y="654710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188720" y="329184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does temperature move through the year?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6903720" cy="5074920"/>
          </a:xfrm>
          <a:prstGeom prst="roundRect">
            <a:avLst>
              <a:gd name="adj" fmla="val 2162"/>
            </a:avLst>
          </a:prstGeom>
          <a:solidFill>
            <a:srgbClr val="EEF3F6"/>
          </a:solidFill>
          <a:ln/>
          <a:effectLst>
            <a:outerShdw blurRad="101600" dist="38100" dir="5400000" algn="bl" rotWithShape="0">
              <a:srgbClr val="1B2A33">
                <a:alpha val="18000"/>
              </a:srgbClr>
            </a:outerShdw>
          </a:effectLst>
        </p:spPr>
      </p:sp>
      <p:pic>
        <p:nvPicPr>
          <p:cNvPr id="6" name="Image 0" descr="/home/claude/charts/temp_over_ti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577734"/>
            <a:ext cx="6263640" cy="2388331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589520" y="1234440"/>
            <a:ext cx="4142232" cy="5074920"/>
          </a:xfrm>
          <a:prstGeom prst="roundRect">
            <a:avLst>
              <a:gd name="adj" fmla="val 2649"/>
            </a:avLst>
          </a:prstGeom>
          <a:solidFill>
            <a:srgbClr val="FFFFFF"/>
          </a:solidFill>
          <a:ln w="12700">
            <a:solidFill>
              <a:srgbClr val="DCE3E7"/>
            </a:solidFill>
            <a:prstDash val="solid"/>
          </a:ln>
          <a:effectLst>
            <a:outerShdw blurRad="101600" dist="38100" dir="5400000" algn="bl" rotWithShape="0">
              <a:srgbClr val="1B2A33">
                <a:alpha val="1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909560" y="1527048"/>
            <a:ext cx="35021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INSIGHT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909560" y="2103120"/>
            <a:ext cx="3502152" cy="3886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spcAft>
                <a:spcPts val="2000"/>
              </a:spcAft>
              <a:buNone/>
            </a:pPr>
            <a:r>
              <a:rPr lang="en-US" sz="1600" dirty="0">
                <a:solidFill>
                  <a:srgbClr val="3A4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clear annual cycle repeats every year — hot summers, mild winters, same shape 2021–2025.</a:t>
            </a:r>
            <a:endParaRPr lang="en-US" sz="1600" dirty="0"/>
          </a:p>
          <a:p>
            <a:pPr marL="0" indent="0">
              <a:lnSpc>
                <a:spcPct val="125000"/>
              </a:lnSpc>
              <a:spcAft>
                <a:spcPts val="2000"/>
              </a:spcAft>
              <a:buNone/>
            </a:pPr>
            <a:r>
              <a:rPr lang="en-US" sz="1600" dirty="0">
                <a:solidFill>
                  <a:srgbClr val="3A4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single-day spikes look like sensor errors; swings stay within a believable seasonal </a:t>
            </a:r>
            <a:r>
              <a:rPr lang="en-US" sz="1600">
                <a:solidFill>
                  <a:srgbClr val="3A4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envelope.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Alexandria Weather Time-Series Analysis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430000" y="654710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188720" y="329184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months run hottest — and how consistent are they?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6903720" cy="5074920"/>
          </a:xfrm>
          <a:prstGeom prst="roundRect">
            <a:avLst>
              <a:gd name="adj" fmla="val 2162"/>
            </a:avLst>
          </a:prstGeom>
          <a:solidFill>
            <a:srgbClr val="EEF3F6"/>
          </a:solidFill>
          <a:ln/>
          <a:effectLst>
            <a:outerShdw blurRad="101600" dist="38100" dir="5400000" algn="bl" rotWithShape="0">
              <a:srgbClr val="1B2A33">
                <a:alpha val="18000"/>
              </a:srgbClr>
            </a:outerShdw>
          </a:effectLst>
        </p:spPr>
      </p:sp>
      <p:pic>
        <p:nvPicPr>
          <p:cNvPr id="6" name="Image 0" descr="/home/claude/charts/monthly_temp_bo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93436"/>
            <a:ext cx="6263640" cy="375692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589520" y="1234440"/>
            <a:ext cx="4142232" cy="5074920"/>
          </a:xfrm>
          <a:prstGeom prst="roundRect">
            <a:avLst>
              <a:gd name="adj" fmla="val 2649"/>
            </a:avLst>
          </a:prstGeom>
          <a:solidFill>
            <a:srgbClr val="FFFFFF"/>
          </a:solidFill>
          <a:ln w="12700">
            <a:solidFill>
              <a:srgbClr val="DCE3E7"/>
            </a:solidFill>
            <a:prstDash val="solid"/>
          </a:ln>
          <a:effectLst>
            <a:outerShdw blurRad="101600" dist="38100" dir="5400000" algn="bl" rotWithShape="0">
              <a:srgbClr val="1B2A33">
                <a:alpha val="1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909560" y="1527048"/>
            <a:ext cx="35021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INSIGHT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909560" y="2103120"/>
            <a:ext cx="3502152" cy="3886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spcAft>
                <a:spcPts val="2000"/>
              </a:spcAft>
              <a:buNone/>
            </a:pPr>
            <a:r>
              <a:rPr lang="en-US" sz="1600" dirty="0">
                <a:solidFill>
                  <a:srgbClr val="3A4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and August run hottest and most consistent; January is coolest.</a:t>
            </a:r>
            <a:endParaRPr lang="en-US" sz="1600" dirty="0"/>
          </a:p>
          <a:p>
            <a:pPr marL="0" indent="0">
              <a:lnSpc>
                <a:spcPct val="125000"/>
              </a:lnSpc>
              <a:spcAft>
                <a:spcPts val="2000"/>
              </a:spcAft>
              <a:buNone/>
            </a:pPr>
            <a:r>
              <a:rPr lang="en-US" sz="1600" dirty="0">
                <a:solidFill>
                  <a:srgbClr val="3A4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and autumn show wider spread — more day-to-day variability than peak summer or winter.</a:t>
            </a:r>
            <a:endParaRPr lang="en-US" sz="1600" dirty="0"/>
          </a:p>
          <a:p>
            <a:pPr marL="0" indent="0">
              <a:lnSpc>
                <a:spcPct val="125000"/>
              </a:lnSpc>
              <a:spcAft>
                <a:spcPts val="2000"/>
              </a:spcAft>
              <a:buNone/>
            </a:pPr>
            <a:r>
              <a:rPr lang="en-US" sz="1600" dirty="0">
                <a:solidFill>
                  <a:srgbClr val="3A4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clean month-to-month step pattern is exactly what a healthy seasonal series looks like.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Alexandria Weather Time-Series Analysis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430000" y="654710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188720" y="329184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there a long-term trend, or just seasonal swing?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6903720" cy="5074920"/>
          </a:xfrm>
          <a:prstGeom prst="roundRect">
            <a:avLst>
              <a:gd name="adj" fmla="val 2162"/>
            </a:avLst>
          </a:prstGeom>
          <a:solidFill>
            <a:srgbClr val="EEF3F6"/>
          </a:solidFill>
          <a:ln/>
          <a:effectLst>
            <a:outerShdw blurRad="101600" dist="38100" dir="5400000" algn="bl" rotWithShape="0">
              <a:srgbClr val="1B2A33">
                <a:alpha val="18000"/>
              </a:srgbClr>
            </a:outerShdw>
          </a:effectLst>
        </p:spPr>
      </p:sp>
      <p:pic>
        <p:nvPicPr>
          <p:cNvPr id="6" name="Image 0" descr="/home/claude/charts/temp_roll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577734"/>
            <a:ext cx="6263640" cy="2388331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589520" y="1234440"/>
            <a:ext cx="4142232" cy="5074920"/>
          </a:xfrm>
          <a:prstGeom prst="roundRect">
            <a:avLst>
              <a:gd name="adj" fmla="val 2649"/>
            </a:avLst>
          </a:prstGeom>
          <a:solidFill>
            <a:srgbClr val="FFFFFF"/>
          </a:solidFill>
          <a:ln w="12700">
            <a:solidFill>
              <a:srgbClr val="DCE3E7"/>
            </a:solidFill>
            <a:prstDash val="solid"/>
          </a:ln>
          <a:effectLst>
            <a:outerShdw blurRad="101600" dist="38100" dir="5400000" algn="bl" rotWithShape="0">
              <a:srgbClr val="1B2A33">
                <a:alpha val="1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909560" y="1527048"/>
            <a:ext cx="35021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INSIGHT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909560" y="2103120"/>
            <a:ext cx="3502152" cy="3886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spcAft>
                <a:spcPts val="2000"/>
              </a:spcAft>
              <a:buNone/>
            </a:pPr>
            <a:r>
              <a:rPr lang="en-US" sz="1600" dirty="0">
                <a:solidFill>
                  <a:srgbClr val="3A4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30-day rolling mean just retraces the seasonal cycle — no drift toward a hotter or cooler baseline.</a:t>
            </a:r>
            <a:endParaRPr lang="en-US" sz="1600" dirty="0"/>
          </a:p>
          <a:p>
            <a:pPr marL="0" indent="0">
              <a:lnSpc>
                <a:spcPct val="125000"/>
              </a:lnSpc>
              <a:spcAft>
                <a:spcPts val="2000"/>
              </a:spcAft>
              <a:buNone/>
            </a:pPr>
            <a:r>
              <a:rPr lang="en-US" sz="1600" dirty="0">
                <a:solidFill>
                  <a:srgbClr val="3A4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std stays moderate and stable, with mild spikes during spring/autumn swings.</a:t>
            </a:r>
            <a:endParaRPr lang="en-US" sz="1600" dirty="0"/>
          </a:p>
          <a:p>
            <a:pPr marL="0" indent="0">
              <a:lnSpc>
                <a:spcPct val="125000"/>
              </a:lnSpc>
              <a:spcAft>
                <a:spcPts val="2000"/>
              </a:spcAft>
              <a:buNone/>
            </a:pPr>
            <a:r>
              <a:rPr lang="en-US" sz="1600" dirty="0">
                <a:solidFill>
                  <a:srgbClr val="3A4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seasonality, not long-term climate trend, drives this 5-year window.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Alexandria Weather Time-Series Analysis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430000" y="654710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188720" y="329184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actually driving the pattern — trend, season, or noise?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6903720" cy="5074920"/>
          </a:xfrm>
          <a:prstGeom prst="roundRect">
            <a:avLst>
              <a:gd name="adj" fmla="val 2162"/>
            </a:avLst>
          </a:prstGeom>
          <a:solidFill>
            <a:srgbClr val="EEF3F6"/>
          </a:solidFill>
          <a:ln/>
          <a:effectLst>
            <a:outerShdw blurRad="101600" dist="38100" dir="5400000" algn="bl" rotWithShape="0">
              <a:srgbClr val="1B2A33">
                <a:alpha val="18000"/>
              </a:srgbClr>
            </a:outerShdw>
          </a:effectLst>
        </p:spPr>
      </p:sp>
      <p:pic>
        <p:nvPicPr>
          <p:cNvPr id="6" name="Image 0" descr="/home/claude/charts/decomposi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6774" y="1554480"/>
            <a:ext cx="5944573" cy="44348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589520" y="1234440"/>
            <a:ext cx="4142232" cy="5074920"/>
          </a:xfrm>
          <a:prstGeom prst="roundRect">
            <a:avLst>
              <a:gd name="adj" fmla="val 2649"/>
            </a:avLst>
          </a:prstGeom>
          <a:solidFill>
            <a:srgbClr val="FFFFFF"/>
          </a:solidFill>
          <a:ln w="12700">
            <a:solidFill>
              <a:srgbClr val="DCE3E7"/>
            </a:solidFill>
            <a:prstDash val="solid"/>
          </a:ln>
          <a:effectLst>
            <a:outerShdw blurRad="101600" dist="38100" dir="5400000" algn="bl" rotWithShape="0">
              <a:srgbClr val="1B2A33">
                <a:alpha val="1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909560" y="1527048"/>
            <a:ext cx="35021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INSIGHT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909560" y="2103120"/>
            <a:ext cx="3502152" cy="3886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spcAft>
                <a:spcPts val="2000"/>
              </a:spcAft>
              <a:buNone/>
            </a:pPr>
            <a:r>
              <a:rPr lang="en-US" sz="1600" dirty="0">
                <a:solidFill>
                  <a:srgbClr val="3A4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Decomposition splits the series into a strong seasonal cycle, a near-flat trend, and residual noise around zero.</a:t>
            </a:r>
            <a:endParaRPr lang="en-US" sz="1600" dirty="0"/>
          </a:p>
          <a:p>
            <a:pPr marL="0" indent="0">
              <a:lnSpc>
                <a:spcPct val="125000"/>
              </a:lnSpc>
              <a:spcAft>
                <a:spcPts val="2000"/>
              </a:spcAft>
              <a:buNone/>
            </a:pPr>
            <a:r>
              <a:rPr lang="en-US" sz="1600" dirty="0">
                <a:solidFill>
                  <a:srgbClr val="3A4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Seasonality dominates — most of the raw plot's 'volatility' is just the predictable annual cycle.</a:t>
            </a:r>
            <a:endParaRPr lang="en-US" sz="1600" dirty="0"/>
          </a:p>
          <a:p>
            <a:pPr marL="0" indent="0">
              <a:lnSpc>
                <a:spcPct val="125000"/>
              </a:lnSpc>
              <a:spcAft>
                <a:spcPts val="2000"/>
              </a:spcAft>
              <a:buNone/>
            </a:pPr>
            <a:r>
              <a:rPr lang="en-US" sz="1600" dirty="0">
                <a:solidFill>
                  <a:srgbClr val="3A4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up the stationarity test next.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Alexandria Weather Time-Series Analysis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430000" y="654710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188720" y="329184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the temperature series stationary?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6903720" cy="5074920"/>
          </a:xfrm>
          <a:prstGeom prst="roundRect">
            <a:avLst>
              <a:gd name="adj" fmla="val 2162"/>
            </a:avLst>
          </a:prstGeom>
          <a:solidFill>
            <a:srgbClr val="EEF3F6"/>
          </a:solidFill>
          <a:ln/>
          <a:effectLst>
            <a:outerShdw blurRad="101600" dist="38100" dir="5400000" algn="bl" rotWithShape="0">
              <a:srgbClr val="1B2A33">
                <a:alpha val="18000"/>
              </a:srgbClr>
            </a:outerShdw>
          </a:effectLst>
        </p:spPr>
      </p:sp>
      <p:pic>
        <p:nvPicPr>
          <p:cNvPr id="6" name="Image 0" descr="/home/claude/charts/ac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7948" y="1554480"/>
            <a:ext cx="2842225" cy="2171700"/>
          </a:xfrm>
          <a:prstGeom prst="rect">
            <a:avLst/>
          </a:prstGeom>
        </p:spPr>
      </p:pic>
      <p:pic>
        <p:nvPicPr>
          <p:cNvPr id="7" name="Image 1" descr="/home/claude/charts/pac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87948" y="3817620"/>
            <a:ext cx="2842225" cy="21717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589520" y="1234440"/>
            <a:ext cx="4142232" cy="5074920"/>
          </a:xfrm>
          <a:prstGeom prst="roundRect">
            <a:avLst>
              <a:gd name="adj" fmla="val 2649"/>
            </a:avLst>
          </a:prstGeom>
          <a:solidFill>
            <a:srgbClr val="FFFFFF"/>
          </a:solidFill>
          <a:ln w="12700">
            <a:solidFill>
              <a:srgbClr val="DCE3E7"/>
            </a:solidFill>
            <a:prstDash val="solid"/>
          </a:ln>
          <a:effectLst>
            <a:outerShdw blurRad="101600" dist="38100" dir="5400000" algn="bl" rotWithShape="0">
              <a:srgbClr val="1B2A33">
                <a:alpha val="18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7909560" y="1527048"/>
            <a:ext cx="35021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INSIGHT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7909560" y="2103120"/>
            <a:ext cx="3502152" cy="3886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spcAft>
                <a:spcPts val="2000"/>
              </a:spcAft>
              <a:buNone/>
            </a:pPr>
            <a:r>
              <a:rPr lang="en-US" sz="1600" dirty="0">
                <a:solidFill>
                  <a:srgbClr val="3A4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ACF decays slowly (seasonal signature); PACF spikes at lag 1, then fades fast.</a:t>
            </a:r>
            <a:endParaRPr lang="en-US" sz="1600" dirty="0"/>
          </a:p>
          <a:p>
            <a:pPr marL="0" indent="0">
              <a:lnSpc>
                <a:spcPct val="125000"/>
              </a:lnSpc>
              <a:spcAft>
                <a:spcPts val="2000"/>
              </a:spcAft>
              <a:buNone/>
            </a:pPr>
            <a:r>
              <a:rPr lang="en-US" sz="1600" dirty="0">
                <a:solidFill>
                  <a:srgbClr val="3A4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ADF test: statistic -2.258, p = 0.186 — fails to reject the unit-root null. Non-stationary.</a:t>
            </a:r>
            <a:endParaRPr lang="en-US" sz="1600" dirty="0"/>
          </a:p>
          <a:p>
            <a:pPr marL="0" indent="0">
              <a:lnSpc>
                <a:spcPct val="125000"/>
              </a:lnSpc>
              <a:spcAft>
                <a:spcPts val="2000"/>
              </a:spcAft>
              <a:buNone/>
            </a:pPr>
            <a:r>
              <a:rPr lang="en-US" sz="1600" dirty="0">
                <a:solidFill>
                  <a:srgbClr val="3A4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Implication: seasonal differencing (or SARIMA) is needed before ARIMA-style forecasting.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Alexandria Weather Time-Series Analysis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11430000" y="654710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Q7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188720" y="329184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does it rain — and are the spikes real?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6903720" cy="5074920"/>
          </a:xfrm>
          <a:prstGeom prst="roundRect">
            <a:avLst>
              <a:gd name="adj" fmla="val 2162"/>
            </a:avLst>
          </a:prstGeom>
          <a:solidFill>
            <a:srgbClr val="EEF3F6"/>
          </a:solidFill>
          <a:ln/>
          <a:effectLst>
            <a:outerShdw blurRad="101600" dist="38100" dir="5400000" algn="bl" rotWithShape="0">
              <a:srgbClr val="1B2A33">
                <a:alpha val="18000"/>
              </a:srgbClr>
            </a:outerShdw>
          </a:effectLst>
        </p:spPr>
      </p:sp>
      <p:pic>
        <p:nvPicPr>
          <p:cNvPr id="6" name="Image 0" descr="/home/claude/charts/precip_over_ti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471" y="1554480"/>
            <a:ext cx="5737178" cy="2171700"/>
          </a:xfrm>
          <a:prstGeom prst="rect">
            <a:avLst/>
          </a:prstGeom>
        </p:spPr>
      </p:pic>
      <p:pic>
        <p:nvPicPr>
          <p:cNvPr id="7" name="Image 1" descr="/home/claude/charts/precip_outli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0471" y="3817620"/>
            <a:ext cx="5737178" cy="21717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589520" y="1234440"/>
            <a:ext cx="4142232" cy="5074920"/>
          </a:xfrm>
          <a:prstGeom prst="roundRect">
            <a:avLst>
              <a:gd name="adj" fmla="val 2649"/>
            </a:avLst>
          </a:prstGeom>
          <a:solidFill>
            <a:srgbClr val="FFFFFF"/>
          </a:solidFill>
          <a:ln w="12700">
            <a:solidFill>
              <a:srgbClr val="DCE3E7"/>
            </a:solidFill>
            <a:prstDash val="solid"/>
          </a:ln>
          <a:effectLst>
            <a:outerShdw blurRad="101600" dist="38100" dir="5400000" algn="bl" rotWithShape="0">
              <a:srgbClr val="1B2A33">
                <a:alpha val="18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7909560" y="1527048"/>
            <a:ext cx="35021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INSIGHT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7909560" y="2103120"/>
            <a:ext cx="3502152" cy="3886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spcAft>
                <a:spcPts val="2000"/>
              </a:spcAft>
              <a:buNone/>
            </a:pPr>
            <a:r>
              <a:rPr lang="en-US" sz="1600" dirty="0">
                <a:solidFill>
                  <a:srgbClr val="3A4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 concentrates in winter (Nov–Mar); the rest of the year is largely dry — Mediterranean climate.</a:t>
            </a:r>
            <a:endParaRPr lang="en-US" sz="1600" dirty="0"/>
          </a:p>
          <a:p>
            <a:pPr marL="0" indent="0">
              <a:lnSpc>
                <a:spcPct val="125000"/>
              </a:lnSpc>
              <a:spcAft>
                <a:spcPts val="2000"/>
              </a:spcAft>
              <a:buNone/>
            </a:pPr>
            <a:r>
              <a:rPr lang="en-US" sz="1600" dirty="0">
                <a:solidFill>
                  <a:srgbClr val="3A4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IQR flags 372 'outliers' — all legitimate heavy-rain days, no negative values anywhere.</a:t>
            </a:r>
            <a:endParaRPr lang="en-US" sz="1600" dirty="0"/>
          </a:p>
          <a:p>
            <a:pPr marL="0" indent="0">
              <a:lnSpc>
                <a:spcPct val="125000"/>
              </a:lnSpc>
              <a:spcAft>
                <a:spcPts val="2000"/>
              </a:spcAft>
              <a:buNone/>
            </a:pPr>
            <a:r>
              <a:rPr lang="en-US" sz="1600" dirty="0">
                <a:solidFill>
                  <a:srgbClr val="3A4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30-day rolling IQR (shown here) isolates the truly extreme rain days for their local season.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Alexandria Weather Time-Series Analysis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11430000" y="654710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223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463040"/>
            <a:ext cx="4023360" cy="402336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051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8FC1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1463040"/>
            <a:ext cx="10058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clean, seasonal series —</a:t>
            </a:r>
            <a:endParaRPr lang="en-US" sz="36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ready for the next step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822960" y="3200400"/>
            <a:ext cx="98755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DC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gaps, duplicates, or missing values across 1,826 daily records.</a:t>
            </a:r>
            <a:endParaRPr lang="en-US" sz="1550" dirty="0"/>
          </a:p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DC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is seasonal and non-stationary (ADF p = 0.186) — needs seasonal differencing before ARIMA.</a:t>
            </a:r>
            <a:endParaRPr lang="en-US" sz="1550" dirty="0"/>
          </a:p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DC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Precipitation is rare, skewed, winter-heavy; 'outliers' are real rain events, not errors.</a:t>
            </a:r>
            <a:endParaRPr lang="en-US" sz="1550" dirty="0"/>
          </a:p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DC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behave as physically expected — temperature readings move together; rainfall is independent.</a:t>
            </a:r>
            <a:endParaRPr lang="en-US" sz="1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1033</Words>
  <Application>Microsoft Office PowerPoint</Application>
  <PresentationFormat>Widescreen</PresentationFormat>
  <Paragraphs>134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Abdelrahman Mohamed</cp:lastModifiedBy>
  <cp:revision>3</cp:revision>
  <dcterms:created xsi:type="dcterms:W3CDTF">2026-08-01T13:27:26Z</dcterms:created>
  <dcterms:modified xsi:type="dcterms:W3CDTF">2026-08-02T16:29:18Z</dcterms:modified>
</cp:coreProperties>
</file>